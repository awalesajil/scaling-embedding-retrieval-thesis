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Morning ! </a:t>
            </a:r>
            <a:r>
              <a:rPr lang="en"/>
              <a:t>Thank you for being here.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am Sajil Awale and today I will be presenting my thesis on Embedding Compression for Dense </a:t>
            </a:r>
            <a:r>
              <a:rPr lang="en"/>
              <a:t>Retrieval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compare various compression techniques that we organized as Post-hoc, training time and stacked methods.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am also </a:t>
            </a:r>
            <a:r>
              <a:rPr lang="en"/>
              <a:t>grateful</a:t>
            </a:r>
            <a:r>
              <a:rPr lang="en"/>
              <a:t> to Dr T for advising my thesis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522d35f3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522d35f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Introduction:</a:t>
            </a:r>
            <a:r>
              <a:rPr lang="en">
                <a:solidFill>
                  <a:schemeClr val="dk1"/>
                </a:solidFill>
              </a:rPr>
              <a:t> My motivation and the problem statement.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Background:</a:t>
            </a:r>
            <a:r>
              <a:rPr lang="en">
                <a:solidFill>
                  <a:schemeClr val="dk1"/>
                </a:solidFill>
              </a:rPr>
              <a:t> Key concepts needed to understand &amp; </a:t>
            </a:r>
            <a:r>
              <a:rPr b="1" lang="en">
                <a:solidFill>
                  <a:schemeClr val="dk1"/>
                </a:solidFill>
              </a:rPr>
              <a:t>appreciate the results.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Literature Review:</a:t>
            </a:r>
            <a:r>
              <a:rPr lang="en">
                <a:solidFill>
                  <a:schemeClr val="dk1"/>
                </a:solidFill>
              </a:rPr>
              <a:t> Prior studies and our unique contribution.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Methodology:</a:t>
            </a:r>
            <a:r>
              <a:rPr lang="en">
                <a:solidFill>
                  <a:schemeClr val="dk1"/>
                </a:solidFill>
              </a:rPr>
              <a:t> Our experimental setup for a fair comparison.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Results:</a:t>
            </a:r>
            <a:r>
              <a:rPr lang="en">
                <a:solidFill>
                  <a:schemeClr val="dk1"/>
                </a:solidFill>
              </a:rPr>
              <a:t> The outcomes of our evaluations.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Conclusion:</a:t>
            </a:r>
            <a:r>
              <a:rPr lang="en">
                <a:solidFill>
                  <a:schemeClr val="dk1"/>
                </a:solidFill>
              </a:rPr>
              <a:t> Revisiting objectives, limitations, and future work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8b1fc55c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8b1fc55c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22d35f3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22d35f3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Core Concept:</a:t>
            </a:r>
            <a:r>
              <a:rPr lang="en">
                <a:solidFill>
                  <a:schemeClr val="dk1"/>
                </a:solidFill>
              </a:rPr>
              <a:t> Explain the flowchart (Query → System → Top K Results).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Analogy:</a:t>
            </a:r>
            <a:r>
              <a:rPr lang="en">
                <a:solidFill>
                  <a:schemeClr val="dk1"/>
                </a:solidFill>
              </a:rPr>
              <a:t> Compare it to Google Search (you enter a query, you get ranked websites).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Application:</a:t>
            </a:r>
            <a:r>
              <a:rPr lang="en">
                <a:solidFill>
                  <a:schemeClr val="dk1"/>
                </a:solidFill>
              </a:rPr>
              <a:t> In our case, the system searches an </a:t>
            </a:r>
            <a:r>
              <a:rPr i="1" lang="en">
                <a:solidFill>
                  <a:schemeClr val="dk1"/>
                </a:solidFill>
              </a:rPr>
              <a:t>internal corpus</a:t>
            </a:r>
            <a:r>
              <a:rPr lang="en">
                <a:solidFill>
                  <a:schemeClr val="dk1"/>
                </a:solidFill>
              </a:rPr>
              <a:t> to bring back the most relevant documents.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522d35f3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522d35f3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Two Types:</a:t>
            </a:r>
            <a:r>
              <a:rPr lang="en">
                <a:solidFill>
                  <a:schemeClr val="dk1"/>
                </a:solidFill>
              </a:rPr>
              <a:t> Introduce Sparse vs. Dense retrieval.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Sparse (Keyword Match):</a:t>
            </a:r>
            <a:r>
              <a:rPr lang="en">
                <a:solidFill>
                  <a:schemeClr val="dk1"/>
                </a:solidFill>
              </a:rPr>
              <a:t> Looks for exact words. Point to the diagram: It misses "light dispersion" because the words don't match.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Dense (Semantic Match):</a:t>
            </a:r>
            <a:r>
              <a:rPr lang="en">
                <a:solidFill>
                  <a:schemeClr val="dk1"/>
                </a:solidFill>
              </a:rPr>
              <a:t> Moves from keywords to </a:t>
            </a:r>
            <a:r>
              <a:rPr i="1" lang="en">
                <a:solidFill>
                  <a:schemeClr val="dk1"/>
                </a:solidFill>
              </a:rPr>
              <a:t>meaning</a:t>
            </a:r>
            <a:r>
              <a:rPr lang="en">
                <a:solidFill>
                  <a:schemeClr val="dk1"/>
                </a:solidFill>
              </a:rPr>
              <a:t>. Point to the diagram: It successfully links the query to "light dispersion" because it understands the concept.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522d35f3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522d35f3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foundation</a:t>
            </a:r>
            <a:r>
              <a:rPr lang="en"/>
              <a:t> of </a:t>
            </a:r>
            <a:r>
              <a:rPr b="1" lang="en"/>
              <a:t>Modern</a:t>
            </a:r>
            <a:r>
              <a:rPr lang="en"/>
              <a:t> Dense </a:t>
            </a:r>
            <a:r>
              <a:rPr lang="en"/>
              <a:t>retrieval</a:t>
            </a:r>
            <a:r>
              <a:rPr lang="en"/>
              <a:t> system is the encoder.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encoder is a neural network. It takes in text and generates bunch of floating numbers we call embeddings that capture the semantic meaning of the 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means text </a:t>
            </a:r>
            <a:r>
              <a:rPr lang="en"/>
              <a:t>with similar meaning have similar vector.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522d35f3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522d35f3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search many times."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Phase 1: Offline (Point to top):</a:t>
            </a:r>
            <a:r>
              <a:rPr lang="en">
                <a:solidFill>
                  <a:schemeClr val="dk1"/>
                </a:solidFill>
              </a:rPr>
              <a:t> Explain that it's a one-time, heavy process. We encode millions of documents and store them in a Vector DB.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Phase 2: Online/Search Time (Point to bottom):</a:t>
            </a:r>
            <a:r>
              <a:rPr lang="en">
                <a:solidFill>
                  <a:schemeClr val="dk1"/>
                </a:solidFill>
              </a:rPr>
              <a:t> Explain that this repeats for every query. We encode the specific question, run a cosine similarity check against the database, and output the Top-K results.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522d35f3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522d35f3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or Retrieval-Augmented Generation is one of the </a:t>
            </a:r>
            <a:r>
              <a:rPr b="1" lang="en"/>
              <a:t>popular application</a:t>
            </a:r>
            <a:r>
              <a:rPr lang="en"/>
              <a:t> of dense retrieval 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Here the retriever acts as </a:t>
            </a:r>
            <a:r>
              <a:rPr b="1" lang="en">
                <a:solidFill>
                  <a:schemeClr val="dk1"/>
                </a:solidFill>
              </a:rPr>
              <a:t>LLM’s long term memory.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 pulls in relevant internal documents which is feed as context to LLM models along with the original query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</a:t>
            </a:r>
            <a:r>
              <a:rPr b="1" lang="en">
                <a:solidFill>
                  <a:schemeClr val="dk1"/>
                </a:solidFill>
              </a:rPr>
              <a:t>pplications</a:t>
            </a:r>
            <a:r>
              <a:rPr lang="en">
                <a:solidFill>
                  <a:schemeClr val="dk1"/>
                </a:solidFill>
              </a:rPr>
              <a:t> like these require dense retrieval system</a:t>
            </a:r>
            <a:r>
              <a:rPr b="1" lang="en">
                <a:solidFill>
                  <a:schemeClr val="dk1"/>
                </a:solidFill>
              </a:rPr>
              <a:t> to scale a lot</a:t>
            </a:r>
            <a:endParaRPr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522d35f3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522d35f3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Core Problem:</a:t>
            </a:r>
            <a:r>
              <a:rPr lang="en">
                <a:solidFill>
                  <a:schemeClr val="dk1"/>
                </a:solidFill>
              </a:rPr>
              <a:t> It's all about </a:t>
            </a:r>
            <a:r>
              <a:rPr b="1" lang="en">
                <a:solidFill>
                  <a:schemeClr val="dk1"/>
                </a:solidFill>
              </a:rPr>
              <a:t>scale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Formula:</a:t>
            </a:r>
            <a:r>
              <a:rPr lang="en">
                <a:solidFill>
                  <a:schemeClr val="dk1"/>
                </a:solidFill>
              </a:rPr>
              <a:t> Index Size = Corpus Size × Embedding Dimension. (Bigger models + more documents = massive indexes).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Chart Example:</a:t>
            </a:r>
            <a:r>
              <a:rPr lang="en">
                <a:solidFill>
                  <a:schemeClr val="dk1"/>
                </a:solidFill>
              </a:rPr>
              <a:t> Point to the orange bar on the right. A 1-billion document corpus using a top-tier model creates an </a:t>
            </a:r>
            <a:r>
              <a:rPr b="1" lang="en">
                <a:solidFill>
                  <a:schemeClr val="dk1"/>
                </a:solidFill>
              </a:rPr>
              <a:t>11.4 TB index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RAM Bottleneck:</a:t>
            </a:r>
            <a:r>
              <a:rPr lang="en">
                <a:solidFill>
                  <a:schemeClr val="dk1"/>
                </a:solidFill>
              </a:rPr>
              <a:t> Emphasize that to keep searches fast (low latency), this </a:t>
            </a:r>
            <a:r>
              <a:rPr i="1" lang="en">
                <a:solidFill>
                  <a:schemeClr val="dk1"/>
                </a:solidFill>
              </a:rPr>
              <a:t>must</a:t>
            </a:r>
            <a:r>
              <a:rPr lang="en">
                <a:solidFill>
                  <a:schemeClr val="dk1"/>
                </a:solidFill>
              </a:rPr>
              <a:t> live in RAM, not SSDs. 11.4 TB of RAM is completely unmanageable.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7235e396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7235e396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RAM is expensive.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approximate cost of 1 GB </a:t>
            </a:r>
            <a:r>
              <a:rPr lang="en"/>
              <a:t>memory</a:t>
            </a:r>
            <a:r>
              <a:rPr lang="en"/>
              <a:t> per month in a </a:t>
            </a:r>
            <a:r>
              <a:rPr lang="en"/>
              <a:t>memory</a:t>
            </a:r>
            <a:r>
              <a:rPr lang="en"/>
              <a:t> optimized AWS ec2 instance is 3.8 dollar. We convert </a:t>
            </a:r>
            <a:r>
              <a:rPr lang="en"/>
              <a:t>previous</a:t>
            </a:r>
            <a:r>
              <a:rPr lang="en"/>
              <a:t> </a:t>
            </a:r>
            <a:r>
              <a:rPr lang="en"/>
              <a:t>memory</a:t>
            </a:r>
            <a:r>
              <a:rPr lang="en"/>
              <a:t> requirement to cost. We are looking at 43 thousand dollar per month to operate a </a:t>
            </a:r>
            <a:r>
              <a:rPr lang="en"/>
              <a:t>retrieval</a:t>
            </a:r>
            <a:r>
              <a:rPr lang="en"/>
              <a:t> system with 1B documents using openai’s embedding model.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522d35f3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522d35f3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Input:</a:t>
            </a:r>
            <a:r>
              <a:rPr lang="en">
                <a:solidFill>
                  <a:schemeClr val="dk1"/>
                </a:solidFill>
              </a:rPr>
              <a:t> Point to the top row. These are "float32" values—32 bits per number.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Operation:</a:t>
            </a:r>
            <a:r>
              <a:rPr lang="en">
                <a:solidFill>
                  <a:schemeClr val="dk1"/>
                </a:solidFill>
              </a:rPr>
              <a:t> We apply the </a:t>
            </a:r>
            <a:r>
              <a:rPr b="1" lang="en">
                <a:solidFill>
                  <a:schemeClr val="dk1"/>
                </a:solidFill>
              </a:rPr>
              <a:t>sign function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Logic:</a:t>
            </a:r>
            <a:r>
              <a:rPr lang="en">
                <a:solidFill>
                  <a:schemeClr val="dk1"/>
                </a:solidFill>
              </a:rPr>
              <a:t> Positive numbers $\rightarrow$ 1. Negative numbers $\rightarrow$ 0.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Result:</a:t>
            </a:r>
            <a:r>
              <a:rPr lang="en">
                <a:solidFill>
                  <a:schemeClr val="dk1"/>
                </a:solidFill>
              </a:rPr>
              <a:t> Point to the bottom row. We now have a </a:t>
            </a:r>
            <a:r>
              <a:rPr b="1" lang="en">
                <a:solidFill>
                  <a:schemeClr val="dk1"/>
                </a:solidFill>
              </a:rPr>
              <a:t>binary code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The Payoff:</a:t>
            </a:r>
            <a:r>
              <a:rPr lang="en">
                <a:solidFill>
                  <a:schemeClr val="dk1"/>
                </a:solidFill>
              </a:rPr>
              <a:t> We went from 32 bits to 1 bit. That is a </a:t>
            </a:r>
            <a:r>
              <a:rPr b="1" lang="en">
                <a:solidFill>
                  <a:schemeClr val="dk1"/>
                </a:solidFill>
              </a:rPr>
              <a:t>32x compression ratio</a:t>
            </a:r>
            <a:r>
              <a:rPr lang="en">
                <a:solidFill>
                  <a:schemeClr val="dk1"/>
                </a:solidFill>
              </a:rPr>
              <a:t>. We keep the "sign" (the direction) and drop the "rest" (the precision).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8b1fc55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8b1fc55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Input:</a:t>
            </a:r>
            <a:r>
              <a:rPr lang="en">
                <a:solidFill>
                  <a:schemeClr val="dk1"/>
                </a:solidFill>
              </a:rPr>
              <a:t> Point to the top row. These are "float32" values—32 bits per number.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Operation:</a:t>
            </a:r>
            <a:r>
              <a:rPr lang="en">
                <a:solidFill>
                  <a:schemeClr val="dk1"/>
                </a:solidFill>
              </a:rPr>
              <a:t> We apply the </a:t>
            </a:r>
            <a:r>
              <a:rPr b="1" lang="en">
                <a:solidFill>
                  <a:schemeClr val="dk1"/>
                </a:solidFill>
              </a:rPr>
              <a:t>sign function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Logic:</a:t>
            </a:r>
            <a:r>
              <a:rPr lang="en">
                <a:solidFill>
                  <a:schemeClr val="dk1"/>
                </a:solidFill>
              </a:rPr>
              <a:t> Positive numbers $\rightarrow$ 1. Negative numbers $\rightarrow$ 0.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Result:</a:t>
            </a:r>
            <a:r>
              <a:rPr lang="en">
                <a:solidFill>
                  <a:schemeClr val="dk1"/>
                </a:solidFill>
              </a:rPr>
              <a:t> Point to the bottom row. We now have a </a:t>
            </a:r>
            <a:r>
              <a:rPr b="1" lang="en">
                <a:solidFill>
                  <a:schemeClr val="dk1"/>
                </a:solidFill>
              </a:rPr>
              <a:t>binary code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The Payoff:</a:t>
            </a:r>
            <a:r>
              <a:rPr lang="en">
                <a:solidFill>
                  <a:schemeClr val="dk1"/>
                </a:solidFill>
              </a:rPr>
              <a:t> We went from 32 bits to 1 bit. That is a </a:t>
            </a:r>
            <a:r>
              <a:rPr b="1" lang="en">
                <a:solidFill>
                  <a:schemeClr val="dk1"/>
                </a:solidFill>
              </a:rPr>
              <a:t>32x compression ratio</a:t>
            </a:r>
            <a:r>
              <a:rPr lang="en">
                <a:solidFill>
                  <a:schemeClr val="dk1"/>
                </a:solidFill>
              </a:rPr>
              <a:t>. We keep the "sign" (the direction) and drop the "rest" (the precision).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522d35f3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522d35f3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Catch:</a:t>
            </a:r>
            <a:r>
              <a:rPr lang="en">
                <a:solidFill>
                  <a:schemeClr val="dk1"/>
                </a:solidFill>
              </a:rPr>
              <a:t> Compression isn't free. Introduce the tradeoff between index size and retrieval quality.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Graph:</a:t>
            </a:r>
            <a:r>
              <a:rPr lang="en">
                <a:solidFill>
                  <a:schemeClr val="dk1"/>
                </a:solidFill>
              </a:rPr>
              <a:t> Point to the top left baseline (float32) and trace the line down to the compressed state (binary).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Cost:</a:t>
            </a:r>
            <a:r>
              <a:rPr lang="en">
                <a:solidFill>
                  <a:schemeClr val="dk1"/>
                </a:solidFill>
              </a:rPr>
              <a:t> Point to the red dashed box. Emphasize that simple binarization causes a </a:t>
            </a:r>
            <a:r>
              <a:rPr b="1" lang="en">
                <a:solidFill>
                  <a:schemeClr val="dk1"/>
                </a:solidFill>
              </a:rPr>
              <a:t>5 to 10% drop</a:t>
            </a:r>
            <a:r>
              <a:rPr lang="en">
                <a:solidFill>
                  <a:schemeClr val="dk1"/>
                </a:solidFill>
              </a:rPr>
              <a:t> in performance.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Transition:</a:t>
            </a:r>
            <a:r>
              <a:rPr lang="en">
                <a:solidFill>
                  <a:schemeClr val="dk1"/>
                </a:solidFill>
              </a:rPr>
              <a:t> This sets up the whole thesis. The goal is to get the high compression </a:t>
            </a:r>
            <a:r>
              <a:rPr i="1" lang="en">
                <a:solidFill>
                  <a:schemeClr val="dk1"/>
                </a:solidFill>
              </a:rPr>
              <a:t>without</a:t>
            </a:r>
            <a:r>
              <a:rPr lang="en">
                <a:solidFill>
                  <a:schemeClr val="dk1"/>
                </a:solidFill>
              </a:rPr>
              <a:t> losing that 10% accuracy.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7235e396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7235e396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Open Question:</a:t>
            </a:r>
            <a:r>
              <a:rPr lang="en">
                <a:solidFill>
                  <a:schemeClr val="dk1"/>
                </a:solidFill>
              </a:rPr>
              <a:t> How do we maximize compression </a:t>
            </a:r>
            <a:r>
              <a:rPr i="1" lang="en">
                <a:solidFill>
                  <a:schemeClr val="dk1"/>
                </a:solidFill>
              </a:rPr>
              <a:t>without</a:t>
            </a:r>
            <a:r>
              <a:rPr lang="en">
                <a:solidFill>
                  <a:schemeClr val="dk1"/>
                </a:solidFill>
              </a:rPr>
              <a:t> losing quality? Id there any technique than can do this?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The Graph:</a:t>
            </a:r>
            <a:r>
              <a:rPr lang="en">
                <a:solidFill>
                  <a:schemeClr val="dk1"/>
                </a:solidFill>
              </a:rPr>
              <a:t> There are 2 </a:t>
            </a:r>
            <a:r>
              <a:rPr lang="en">
                <a:solidFill>
                  <a:schemeClr val="dk1"/>
                </a:solidFill>
              </a:rPr>
              <a:t>techniques</a:t>
            </a:r>
            <a:r>
              <a:rPr lang="en">
                <a:solidFill>
                  <a:schemeClr val="dk1"/>
                </a:solidFill>
              </a:rPr>
              <a:t> being compared at various compression ratios. Technique 1 collapses after certain compression while technique 2 can hold its </a:t>
            </a:r>
            <a:r>
              <a:rPr lang="en">
                <a:solidFill>
                  <a:schemeClr val="dk1"/>
                </a:solidFill>
              </a:rPr>
              <a:t>retrieval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performance</a:t>
            </a:r>
            <a:r>
              <a:rPr lang="en">
                <a:solidFill>
                  <a:schemeClr val="dk1"/>
                </a:solidFill>
              </a:rPr>
              <a:t> even at high compression.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</a:t>
            </a:r>
            <a:r>
              <a:rPr b="1" lang="en">
                <a:solidFill>
                  <a:schemeClr val="dk1"/>
                </a:solidFill>
              </a:rPr>
              <a:t>sets up the thesis goal</a:t>
            </a:r>
            <a:r>
              <a:rPr lang="en">
                <a:solidFill>
                  <a:schemeClr val="dk1"/>
                </a:solidFill>
              </a:rPr>
              <a:t> very well. We try to find the answer to these question based on </a:t>
            </a:r>
            <a:r>
              <a:rPr b="1" lang="en">
                <a:solidFill>
                  <a:schemeClr val="dk1"/>
                </a:solidFill>
              </a:rPr>
              <a:t>systematic, fair comparison</a:t>
            </a:r>
            <a:r>
              <a:rPr lang="en">
                <a:solidFill>
                  <a:schemeClr val="dk1"/>
                </a:solidFill>
              </a:rPr>
              <a:t> across many compression technique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8b1fc55c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8b1fc55c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7235e396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7235e396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diving in the different techniques we evaluated in this thesis.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look at how </a:t>
            </a:r>
            <a:r>
              <a:rPr b="1" lang="en"/>
              <a:t>we organized the compression methods into two axis.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Axis 1: WHEN: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>
                <a:solidFill>
                  <a:schemeClr val="dk1"/>
                </a:solidFill>
              </a:rPr>
              <a:t>Post-hoc:</a:t>
            </a:r>
            <a:r>
              <a:rPr lang="en">
                <a:solidFill>
                  <a:schemeClr val="dk1"/>
                </a:solidFill>
              </a:rPr>
              <a:t> Compressing </a:t>
            </a:r>
            <a:r>
              <a:rPr i="1" lang="en">
                <a:solidFill>
                  <a:schemeClr val="dk1"/>
                </a:solidFill>
              </a:rPr>
              <a:t>after</a:t>
            </a:r>
            <a:r>
              <a:rPr lang="en">
                <a:solidFill>
                  <a:schemeClr val="dk1"/>
                </a:solidFill>
              </a:rPr>
              <a:t> generation (like the 1-bit example).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>
                <a:solidFill>
                  <a:schemeClr val="dk1"/>
                </a:solidFill>
              </a:rPr>
              <a:t>Training-time:</a:t>
            </a:r>
            <a:r>
              <a:rPr lang="en">
                <a:solidFill>
                  <a:schemeClr val="dk1"/>
                </a:solidFill>
              </a:rPr>
              <a:t> The model learns to compress </a:t>
            </a:r>
            <a:r>
              <a:rPr i="1" lang="en">
                <a:solidFill>
                  <a:schemeClr val="dk1"/>
                </a:solidFill>
              </a:rPr>
              <a:t>during</a:t>
            </a:r>
            <a:r>
              <a:rPr lang="en">
                <a:solidFill>
                  <a:schemeClr val="dk1"/>
                </a:solidFill>
              </a:rPr>
              <a:t> its training phase.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Axis 1: How: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Precision reduction: </a:t>
            </a:r>
            <a:r>
              <a:rPr lang="en">
                <a:solidFill>
                  <a:schemeClr val="dk1"/>
                </a:solidFill>
              </a:rPr>
              <a:t>the bits required to store each embedding value is reduced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Dimensionality reduction: </a:t>
            </a:r>
            <a:r>
              <a:rPr lang="en">
                <a:solidFill>
                  <a:schemeClr val="dk1"/>
                </a:solidFill>
              </a:rPr>
              <a:t>We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truncated the embedding vector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Learning to hash: </a:t>
            </a:r>
            <a:r>
              <a:rPr lang="en">
                <a:solidFill>
                  <a:schemeClr val="dk1"/>
                </a:solidFill>
              </a:rPr>
              <a:t>based on learning to create cookbooks.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look at each technique in brief in following slides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7235e396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7235e396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Post Hoc Precision </a:t>
            </a:r>
            <a:r>
              <a:rPr lang="en"/>
              <a:t>Reduction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Binary method</a:t>
            </a:r>
            <a:r>
              <a:rPr lang="en"/>
              <a:t>: Already done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INT8</a:t>
            </a:r>
            <a:r>
              <a:rPr lang="en"/>
              <a:t>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 we </a:t>
            </a:r>
            <a:r>
              <a:rPr b="1" lang="en">
                <a:solidFill>
                  <a:schemeClr val="dk1"/>
                </a:solidFill>
              </a:rPr>
              <a:t>discretize or quantize </a:t>
            </a:r>
            <a:r>
              <a:rPr lang="en">
                <a:solidFill>
                  <a:schemeClr val="dk1"/>
                </a:solidFill>
              </a:rPr>
              <a:t>the floating 32 bit embedding values to 8 bit integer value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4x compression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>
                <a:solidFill>
                  <a:schemeClr val="dk1"/>
                </a:solidFill>
              </a:rPr>
              <a:t>almost lossless.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>
                <a:solidFill>
                  <a:schemeClr val="dk1"/>
                </a:solidFill>
              </a:rPr>
              <a:t>need the min and max values</a:t>
            </a:r>
            <a:r>
              <a:rPr lang="en">
                <a:solidFill>
                  <a:schemeClr val="dk1"/>
                </a:solidFill>
              </a:rPr>
              <a:t> of the embedding to determine the bucket ranges.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So we use a calibration data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/>
              <a:t>Here the </a:t>
            </a:r>
            <a:r>
              <a:rPr b="1" lang="en"/>
              <a:t>buckets are </a:t>
            </a:r>
            <a:r>
              <a:rPr b="1" lang="en"/>
              <a:t>assigned uniformly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7235e396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7235e396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TurboQuant is a recent development in </a:t>
            </a:r>
            <a:r>
              <a:rPr b="1" lang="en"/>
              <a:t>2025 from google researchers.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can be </a:t>
            </a:r>
            <a:r>
              <a:rPr b="1" lang="en"/>
              <a:t>used for vector quantization</a:t>
            </a:r>
            <a:r>
              <a:rPr lang="en"/>
              <a:t> with application like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KV cache compression</a:t>
            </a:r>
            <a:r>
              <a:rPr lang="en"/>
              <a:t>, helping with memory requirements during inference of LLM models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Also can be used</a:t>
            </a:r>
            <a:r>
              <a:rPr lang="en"/>
              <a:t> to compression embeddings for retrieval systems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basically 3 stage process.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/>
              <a:t>Random rotation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Randomly rotate each vector.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makes every embedding dimension follow the same known beta distribution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/>
              <a:t>Non-uniform quantization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Each dimension is quantized into buckets.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Unlike </a:t>
            </a:r>
            <a:r>
              <a:rPr b="1" lang="en"/>
              <a:t>INT8's uniform buckets</a:t>
            </a:r>
            <a:r>
              <a:rPr lang="en"/>
              <a:t>, here the bucket sizes vary so that every bucket is </a:t>
            </a:r>
            <a:r>
              <a:rPr b="1" lang="en"/>
              <a:t>used roughly equally.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Goal: reduce the MSE</a:t>
            </a:r>
            <a:r>
              <a:rPr lang="en"/>
              <a:t> (reconstruction) bias.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/>
              <a:t>Inner-product correction with QJL (Quantized Johnson–Lindenstrauss)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Embeddings are compared by cosine / inner product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minimizing MSE isn't enough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QJL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7235e396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7235e396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Product Quantization,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/>
              <a:t>Split the vector</a:t>
            </a:r>
            <a:r>
              <a:rPr lang="en"/>
              <a:t>:  </a:t>
            </a:r>
            <a:r>
              <a:rPr lang="en">
                <a:solidFill>
                  <a:schemeClr val="dk1"/>
                </a:solidFill>
              </a:rPr>
              <a:t>split the entire embedding vector to M sub vectors.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/>
              <a:t>Assign nearest centroid</a:t>
            </a:r>
            <a:r>
              <a:rPr lang="en"/>
              <a:t>: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 Each </a:t>
            </a:r>
            <a:r>
              <a:rPr lang="en">
                <a:solidFill>
                  <a:schemeClr val="dk1"/>
                </a:solidFill>
              </a:rPr>
              <a:t>sub vector uses its corresponding cookbook.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>
                <a:solidFill>
                  <a:schemeClr val="dk1"/>
                </a:solidFill>
              </a:rPr>
              <a:t>The cookbook is a cluster with K centroids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>
                <a:solidFill>
                  <a:schemeClr val="dk1"/>
                </a:solidFill>
              </a:rPr>
              <a:t>This is trained with embedding of training data.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>
                <a:solidFill>
                  <a:schemeClr val="dk1"/>
                </a:solidFill>
              </a:rPr>
              <a:t>find the nearest cluster to the sub vector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Encode by nearest centroid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>
                <a:solidFill>
                  <a:schemeClr val="dk1"/>
                </a:solidFill>
              </a:rPr>
              <a:t>store the cluster ID instead of sub vector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index size for PQ: </a:t>
            </a:r>
            <a:r>
              <a:rPr lang="en"/>
              <a:t>given by the formula shown in the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Determined by two knobs: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 — how many sub-vectors we split into.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K — how many centroids per codebook.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7235e396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7235e396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Until now, we were </a:t>
            </a:r>
            <a:r>
              <a:rPr lang="en"/>
              <a:t>discussing</a:t>
            </a:r>
            <a:r>
              <a:rPr lang="en"/>
              <a:t> compression </a:t>
            </a:r>
            <a:r>
              <a:rPr lang="en"/>
              <a:t>technique</a:t>
            </a:r>
            <a:r>
              <a:rPr lang="en"/>
              <a:t> where the </a:t>
            </a:r>
            <a:r>
              <a:rPr b="1" lang="en"/>
              <a:t>encoder</a:t>
            </a:r>
            <a:r>
              <a:rPr b="1" lang="en"/>
              <a:t> model was </a:t>
            </a:r>
            <a:r>
              <a:rPr b="1" lang="en"/>
              <a:t>quite</a:t>
            </a:r>
            <a:r>
              <a:rPr b="1" lang="en"/>
              <a:t> unaware that its </a:t>
            </a:r>
            <a:r>
              <a:rPr b="1" lang="en"/>
              <a:t>embeddings</a:t>
            </a:r>
            <a:r>
              <a:rPr b="1" lang="en"/>
              <a:t> were compressed.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Compression-aware training, encoder is made aware of the embedding compression.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e </a:t>
            </a:r>
            <a:r>
              <a:rPr b="1" lang="en"/>
              <a:t>apply the compression transform</a:t>
            </a:r>
            <a:r>
              <a:rPr lang="en"/>
              <a:t> during training process itself.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way the </a:t>
            </a:r>
            <a:r>
              <a:rPr b="1" lang="en"/>
              <a:t>gradients</a:t>
            </a:r>
            <a:r>
              <a:rPr b="1" lang="en"/>
              <a:t> flow through the compression transform</a:t>
            </a:r>
            <a:r>
              <a:rPr lang="en"/>
              <a:t> itself, making the </a:t>
            </a:r>
            <a:r>
              <a:rPr lang="en"/>
              <a:t>encoder weights aware of the compression.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821d1072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821d1072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</a:t>
            </a:r>
            <a:r>
              <a:rPr lang="en"/>
              <a:t>training retrieval model, MNRL loss is a </a:t>
            </a:r>
            <a:r>
              <a:rPr b="1" lang="en"/>
              <a:t>standard loss function.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dataset will have many data points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</a:t>
            </a:r>
            <a:r>
              <a:rPr b="1" lang="en"/>
              <a:t>assume</a:t>
            </a:r>
            <a:r>
              <a:rPr lang="en"/>
              <a:t> that we take 4 data points in a </a:t>
            </a:r>
            <a:r>
              <a:rPr b="1" lang="en"/>
              <a:t>batch</a:t>
            </a:r>
            <a:r>
              <a:rPr lang="en"/>
              <a:t>, just like in the figure.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means we will have 4 query and 4 passage </a:t>
            </a:r>
            <a:r>
              <a:rPr b="1" lang="en"/>
              <a:t>arranged in a matrix.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diagonal</a:t>
            </a:r>
            <a:r>
              <a:rPr lang="en"/>
              <a:t> represents the relevant query and passage pair which are called </a:t>
            </a:r>
            <a:r>
              <a:rPr b="1" lang="en">
                <a:solidFill>
                  <a:schemeClr val="dk1"/>
                </a:solidFill>
              </a:rPr>
              <a:t>positive pairs.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MNRL loss tries to </a:t>
            </a:r>
            <a:r>
              <a:rPr b="1" lang="en">
                <a:solidFill>
                  <a:schemeClr val="dk1"/>
                </a:solidFill>
              </a:rPr>
              <a:t>pull the embeddings</a:t>
            </a:r>
            <a:r>
              <a:rPr lang="en">
                <a:solidFill>
                  <a:schemeClr val="dk1"/>
                </a:solidFill>
              </a:rPr>
              <a:t> of such pairs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</a:t>
            </a:r>
            <a:r>
              <a:rPr b="1" lang="en"/>
              <a:t>other pair </a:t>
            </a:r>
            <a:r>
              <a:rPr lang="en"/>
              <a:t>of query and passage are called </a:t>
            </a:r>
            <a:r>
              <a:rPr b="1" lang="en"/>
              <a:t>negatives</a:t>
            </a:r>
            <a:r>
              <a:rPr lang="en"/>
              <a:t> and we troy to </a:t>
            </a:r>
            <a:r>
              <a:rPr b="1" lang="en"/>
              <a:t>push their embeddings away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821d1072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821d1072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Binarization Aware training is a </a:t>
            </a:r>
            <a:r>
              <a:rPr b="1" lang="en"/>
              <a:t>training time compression technique.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add a</a:t>
            </a:r>
            <a:r>
              <a:rPr b="1" lang="en"/>
              <a:t> binarization layer, changing the arch</a:t>
            </a:r>
            <a:r>
              <a:rPr lang="en"/>
              <a:t> of the </a:t>
            </a:r>
            <a:r>
              <a:rPr lang="en"/>
              <a:t>retrieval</a:t>
            </a:r>
            <a:r>
              <a:rPr lang="en"/>
              <a:t> model.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layer uses the </a:t>
            </a:r>
            <a:r>
              <a:rPr b="1" lang="en"/>
              <a:t>same sign function</a:t>
            </a:r>
            <a:r>
              <a:rPr lang="en"/>
              <a:t> we saw at post hoc binary technique.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compute the loss using this new binary embeddings and try to backpropagate.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</a:t>
            </a:r>
            <a:r>
              <a:rPr b="1" lang="en"/>
              <a:t>sign</a:t>
            </a:r>
            <a:r>
              <a:rPr b="1" lang="en"/>
              <a:t> is not differentiable at x = 0</a:t>
            </a:r>
            <a:r>
              <a:rPr lang="en"/>
              <a:t>, and </a:t>
            </a:r>
            <a:r>
              <a:rPr lang="en"/>
              <a:t>slope</a:t>
            </a:r>
            <a:r>
              <a:rPr lang="en"/>
              <a:t> is zero everywhere else.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try to solve this by approximating the gradients in 2 ways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821d1072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821d1072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two surrogate gradients are STE and annealed tanh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 STE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Forward pass: </a:t>
            </a:r>
            <a:r>
              <a:rPr lang="en"/>
              <a:t>use the real sign function (true binary output).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Backward pass: </a:t>
            </a:r>
            <a:r>
              <a:rPr lang="en"/>
              <a:t>we assume gradient is identity as shown in figure. So, gradients pass straight through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Annealed tanh fixes this bias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it uses tanh instead of sign function.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</a:t>
            </a:r>
            <a:r>
              <a:rPr lang="en"/>
              <a:t>function</a:t>
            </a:r>
            <a:r>
              <a:rPr lang="en"/>
              <a:t> is </a:t>
            </a:r>
            <a:r>
              <a:rPr lang="en"/>
              <a:t>differentiable</a:t>
            </a:r>
            <a:r>
              <a:rPr lang="en"/>
              <a:t>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have a temperature parameter beta that grows as we train the model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As beta grows, tanh converges to sign function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During inference we switch to sign 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821d1072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821d1072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MRL is another popular train time method.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idea is to </a:t>
            </a:r>
            <a:r>
              <a:rPr b="1" lang="en"/>
              <a:t>Push the important information</a:t>
            </a:r>
            <a:r>
              <a:rPr lang="en"/>
              <a:t> toward the </a:t>
            </a:r>
            <a:r>
              <a:rPr b="1" lang="en"/>
              <a:t>front</a:t>
            </a:r>
            <a:r>
              <a:rPr lang="en"/>
              <a:t> of the vector, and the less important</a:t>
            </a:r>
            <a:r>
              <a:rPr b="1" lang="en"/>
              <a:t> nuance toward the back.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allows </a:t>
            </a:r>
            <a:r>
              <a:rPr b="1" lang="en"/>
              <a:t>flexible vector truncation</a:t>
            </a:r>
            <a:r>
              <a:rPr lang="en"/>
              <a:t> at inference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</a:t>
            </a:r>
            <a:r>
              <a:rPr b="1" lang="en"/>
              <a:t>training</a:t>
            </a:r>
            <a:r>
              <a:rPr lang="en"/>
              <a:t> the embedding </a:t>
            </a:r>
            <a:r>
              <a:rPr b="1" lang="en"/>
              <a:t>vector</a:t>
            </a:r>
            <a:r>
              <a:rPr b="1" lang="en"/>
              <a:t> is truncated</a:t>
            </a:r>
            <a:r>
              <a:rPr lang="en"/>
              <a:t> in different lengths.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compute the </a:t>
            </a:r>
            <a:r>
              <a:rPr b="1" lang="en"/>
              <a:t>mnrl loss for each truncation</a:t>
            </a:r>
            <a:r>
              <a:rPr lang="en"/>
              <a:t> and the </a:t>
            </a:r>
            <a:r>
              <a:rPr b="1" lang="en"/>
              <a:t>final loss is the sum</a:t>
            </a:r>
            <a:r>
              <a:rPr lang="en"/>
              <a:t> of these losses.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833b63c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e833b63c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 MRR@10 (Mean Reciprocal Rank) as the</a:t>
            </a:r>
            <a:r>
              <a:rPr b="1" lang="en"/>
              <a:t> primary metric.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other metrics like NDCG and Recall, but we chose MRR because it's </a:t>
            </a:r>
            <a:r>
              <a:rPr b="1" lang="en"/>
              <a:t>easy to interpret.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</a:t>
            </a:r>
            <a:r>
              <a:rPr lang="en"/>
              <a:t>example</a:t>
            </a:r>
            <a:r>
              <a:rPr lang="en"/>
              <a:t> provided</a:t>
            </a:r>
            <a:r>
              <a:rPr lang="en"/>
              <a:t>, ther user query about the capital of france.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retriever</a:t>
            </a:r>
            <a:r>
              <a:rPr lang="en"/>
              <a:t> will get us the ranked list of results.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</a:t>
            </a:r>
            <a:r>
              <a:rPr lang="en"/>
              <a:t> we are measuring </a:t>
            </a:r>
            <a:r>
              <a:rPr b="1" lang="en"/>
              <a:t>MRR@10,</a:t>
            </a:r>
            <a:r>
              <a:rPr lang="en"/>
              <a:t> we need to</a:t>
            </a:r>
            <a:r>
              <a:rPr b="1" lang="en"/>
              <a:t> truncated the top 10</a:t>
            </a:r>
            <a:r>
              <a:rPr lang="en"/>
              <a:t> results first.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we try to </a:t>
            </a:r>
            <a:r>
              <a:rPr b="1" lang="en"/>
              <a:t>find the correct answer</a:t>
            </a:r>
            <a:r>
              <a:rPr lang="en"/>
              <a:t>. In this case, its </a:t>
            </a:r>
            <a:r>
              <a:rPr b="1" lang="en"/>
              <a:t>at rank 3</a:t>
            </a:r>
            <a:r>
              <a:rPr lang="en"/>
              <a:t>. So the MRR for this casae if 0.33.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MRR is for a query. In our cases we would have hundreds of query  in the benchmark and we need to </a:t>
            </a:r>
            <a:r>
              <a:rPr b="1" lang="en"/>
              <a:t>aggregate</a:t>
            </a:r>
            <a:r>
              <a:rPr b="1" lang="en"/>
              <a:t> them.</a:t>
            </a:r>
            <a:endParaRPr b="1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8b1fc55c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e8b1fc55c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</a:t>
            </a:r>
            <a:r>
              <a:rPr lang="en"/>
              <a:t> look at some prior work that are related to our thesis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833b63c71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e833b63c7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CoRECT</a:t>
            </a:r>
            <a:r>
              <a:rPr lang="en"/>
              <a:t> is a recently released paper which is very close to what we are doing in our thesis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runs a </a:t>
            </a:r>
            <a:r>
              <a:rPr b="1" lang="en"/>
              <a:t>controlled evaluation </a:t>
            </a:r>
            <a:r>
              <a:rPr lang="en"/>
              <a:t>of retrieval performance across </a:t>
            </a:r>
            <a:r>
              <a:rPr b="1" lang="en"/>
              <a:t>different compression techniques</a:t>
            </a:r>
            <a:r>
              <a:rPr lang="en"/>
              <a:t>, as </a:t>
            </a:r>
            <a:r>
              <a:rPr b="1" lang="en"/>
              <a:t>corpus size and compression ratio increase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One of the</a:t>
            </a:r>
            <a:r>
              <a:rPr b="1" lang="en"/>
              <a:t> largest controlled studies</a:t>
            </a:r>
            <a:r>
              <a:rPr lang="en"/>
              <a:t> of its kind: 4 backbones × 8+ compression techniques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Gap: its focus is post-hoc methods 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QAMA</a:t>
            </a:r>
            <a:r>
              <a:rPr lang="en"/>
              <a:t> is another paper </a:t>
            </a:r>
            <a:r>
              <a:rPr b="1" lang="en"/>
              <a:t>introducing a stacked train time compression method</a:t>
            </a:r>
            <a:r>
              <a:rPr lang="en"/>
              <a:t>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Combines MRL</a:t>
            </a:r>
            <a:r>
              <a:rPr lang="en"/>
              <a:t> with multibit quantization aware training.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For multi-bit quantization, it needs multiple thresholds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It makes them learnable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It uses hybrid precision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Early dimensions: 2-bit;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latest dimensions: 0.5-bit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Gap: it does not use the annealed-tanh approach for quantization-aware training.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833b63c7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833b63c7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</a:t>
            </a:r>
            <a:r>
              <a:rPr b="1" lang="en"/>
              <a:t>Binary Passage Retriever</a:t>
            </a:r>
            <a:r>
              <a:rPr lang="en"/>
              <a:t> paper,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Uses annealed tanh</a:t>
            </a:r>
            <a:r>
              <a:rPr lang="en"/>
              <a:t> for the retrieval task.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Compares</a:t>
            </a:r>
            <a:r>
              <a:rPr lang="en"/>
              <a:t> its binary embeddings against </a:t>
            </a:r>
            <a:r>
              <a:rPr b="1" lang="en"/>
              <a:t>full precision and PQ.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Result: the </a:t>
            </a:r>
            <a:r>
              <a:rPr b="1" lang="en"/>
              <a:t>tanh method beats</a:t>
            </a:r>
            <a:r>
              <a:rPr lang="en"/>
              <a:t> PQ.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Gap: it never compares </a:t>
            </a:r>
            <a:r>
              <a:rPr b="1" lang="en"/>
              <a:t>tanh against the STE</a:t>
            </a:r>
            <a:r>
              <a:rPr lang="en"/>
              <a:t> variant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For, </a:t>
            </a:r>
            <a:r>
              <a:rPr b="1" lang="en"/>
              <a:t>Binary embedding based </a:t>
            </a:r>
            <a:r>
              <a:rPr b="1" lang="en"/>
              <a:t>retrieval</a:t>
            </a:r>
            <a:r>
              <a:rPr b="1" lang="en"/>
              <a:t> at tencent</a:t>
            </a:r>
            <a:r>
              <a:rPr lang="en"/>
              <a:t> paper,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Uses a </a:t>
            </a:r>
            <a:r>
              <a:rPr b="1" lang="en"/>
              <a:t>recurrent residual binarization</a:t>
            </a:r>
            <a:r>
              <a:rPr lang="en"/>
              <a:t> method for </a:t>
            </a:r>
            <a:r>
              <a:rPr b="1" lang="en"/>
              <a:t>multi-bit</a:t>
            </a:r>
            <a:r>
              <a:rPr lang="en"/>
              <a:t> compression.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Each </a:t>
            </a:r>
            <a:r>
              <a:rPr b="1" lang="en"/>
              <a:t>additional bit covers the residual error</a:t>
            </a:r>
            <a:r>
              <a:rPr lang="en"/>
              <a:t> left by the previous bits.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Gives the </a:t>
            </a:r>
            <a:r>
              <a:rPr b="1" lang="en"/>
              <a:t>user runtime flexibility over bit depth</a:t>
            </a:r>
            <a:r>
              <a:rPr lang="en"/>
              <a:t> (similar to how MRL gives runtime dimension truncation flexibility)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Task- and </a:t>
            </a:r>
            <a:r>
              <a:rPr b="1" lang="en"/>
              <a:t>model-agnostic</a:t>
            </a:r>
            <a:r>
              <a:rPr lang="en"/>
              <a:t>: it is </a:t>
            </a:r>
            <a:r>
              <a:rPr b="1" lang="en"/>
              <a:t>not an end-to-end</a:t>
            </a:r>
            <a:r>
              <a:rPr lang="en"/>
              <a:t> pipeline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Which means a </a:t>
            </a:r>
            <a:r>
              <a:rPr b="1" lang="en"/>
              <a:t>separate network is trained</a:t>
            </a:r>
            <a:r>
              <a:rPr lang="en"/>
              <a:t> on top of frozen embeddings.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Gap: its </a:t>
            </a:r>
            <a:r>
              <a:rPr b="1" lang="en"/>
              <a:t>quantization is STE</a:t>
            </a:r>
            <a:r>
              <a:rPr lang="en"/>
              <a:t>-based only, and it uses a </a:t>
            </a:r>
            <a:r>
              <a:rPr b="1" lang="en"/>
              <a:t>different model and a different benchmark</a:t>
            </a:r>
            <a:r>
              <a:rPr lang="en"/>
              <a:t> from the rest of the related work (</a:t>
            </a:r>
            <a:r>
              <a:rPr b="1" lang="en"/>
              <a:t>not a standard IR</a:t>
            </a:r>
            <a:r>
              <a:rPr lang="en"/>
              <a:t> </a:t>
            </a:r>
            <a:r>
              <a:rPr b="1" lang="en"/>
              <a:t>benchmark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8b1fc55c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e8b1fc55c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we have our INDUS-SDE paper.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was </a:t>
            </a:r>
            <a:r>
              <a:rPr lang="en"/>
              <a:t>recently accepted for KDD 2026. The conference is yet to happen.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with my team lead co authored this papers and completed it with the help of </a:t>
            </a:r>
            <a:r>
              <a:rPr lang="en">
                <a:solidFill>
                  <a:schemeClr val="dk1"/>
                </a:solidFill>
              </a:rPr>
              <a:t>several teammates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paper's main focus is </a:t>
            </a:r>
            <a:r>
              <a:rPr b="1" lang="en">
                <a:solidFill>
                  <a:schemeClr val="dk1"/>
                </a:solidFill>
              </a:rPr>
              <a:t>establishing a new encoder</a:t>
            </a:r>
            <a:r>
              <a:rPr lang="en">
                <a:solidFill>
                  <a:schemeClr val="dk1"/>
                </a:solidFill>
              </a:rPr>
              <a:t> model for scientific applications.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But it has one section directly relevant here: we compare </a:t>
            </a:r>
            <a:r>
              <a:rPr b="1" lang="en">
                <a:solidFill>
                  <a:schemeClr val="dk1"/>
                </a:solidFill>
              </a:rPr>
              <a:t>post-hoc binary vs. Binarization Aware Training (BAT-STE).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demonstrated </a:t>
            </a:r>
            <a:r>
              <a:rPr b="1" lang="en">
                <a:solidFill>
                  <a:schemeClr val="dk1"/>
                </a:solidFill>
              </a:rPr>
              <a:t>BAT-STE outperforms post-hoc binary.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Main gap</a:t>
            </a:r>
            <a:r>
              <a:rPr lang="en"/>
              <a:t> are that it was tested on only one model (INDUS-SDE) using only one domain-specific benchmark (scientific)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we </a:t>
            </a:r>
            <a:r>
              <a:rPr lang="en"/>
              <a:t>experimented</a:t>
            </a:r>
            <a:r>
              <a:rPr lang="en"/>
              <a:t> with only STE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833b63c7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833b63c7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this is the </a:t>
            </a:r>
            <a:r>
              <a:rPr b="1" lang="en"/>
              <a:t>summary of gap</a:t>
            </a:r>
            <a:r>
              <a:rPr lang="en"/>
              <a:t> we found in the related works.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also </a:t>
            </a:r>
            <a:r>
              <a:rPr b="1" lang="en"/>
              <a:t>sets up the research question</a:t>
            </a:r>
            <a:r>
              <a:rPr lang="en"/>
              <a:t> for the thesis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RQ1 — Post-hoc vs. training-time, under identical conditions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CoRECT: has the comparisons, but post-hoc methods only → ✗.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QAMA: stacks MRL with multi-bit quantization, compared against INT8 and binary — but at </a:t>
            </a:r>
            <a:r>
              <a:rPr b="1" lang="en"/>
              <a:t>different compression ratios</a:t>
            </a:r>
            <a:r>
              <a:rPr lang="en"/>
              <a:t>, so it's not an identical-conditions comparison → △ (partial).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BPR: compares tanh vs. PQ at 32× compression, so </a:t>
            </a:r>
            <a:r>
              <a:rPr b="1" lang="en"/>
              <a:t>technically it does satisfy this condition</a:t>
            </a:r>
            <a:r>
              <a:rPr lang="en"/>
              <a:t> → ✓.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INDUS-SDE: compares post-hoc binary vs. BAT → ✓.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RQ2 — STE vs. annealed tanh, head-to-head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No prior work compares these two directly.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thesis runs both, in the same setup → ✓.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RQ3 — Systematic method stacking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CoRECT: does stack methods (e.g., </a:t>
            </a:r>
            <a:r>
              <a:rPr b="1" lang="en"/>
              <a:t>MRL + PQ, MRL + Binary</a:t>
            </a:r>
            <a:r>
              <a:rPr lang="en"/>
              <a:t>), but post-hoc only → △.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QAMA: stacks MRL with quantization, but only </a:t>
            </a:r>
            <a:r>
              <a:rPr b="1" lang="en"/>
              <a:t>one combination</a:t>
            </a:r>
            <a:r>
              <a:rPr lang="en"/>
              <a:t> → △.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thesis: 5 methods × MRL, systematically → ✓.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RQ4 — Generalizes across backbones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check whether retrieval performance holds across different backbones.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CoRECT: 4 models ✓ ·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 QAMA: 2 models ✓ ·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 BPR / BEBR / INDUS-SDE: 1 model each ✗.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thesis: 3 backbones → ✓.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8b1fc55c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8b1fc55c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move forward with methodology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841c7f2ba_7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841c7f2ba_7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</a:t>
            </a:r>
            <a:r>
              <a:rPr b="1" lang="en"/>
              <a:t>block diagram shows the experimental design</a:t>
            </a:r>
            <a:r>
              <a:rPr lang="en"/>
              <a:t> used in the thesis, </a:t>
            </a:r>
            <a:r>
              <a:rPr b="1" lang="en"/>
              <a:t>built around the idea of fair comparison.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method is compared under the same backbone, same training data, and same benchmark.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Starting point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start from one of three pre-trained backbones</a:t>
            </a:r>
            <a:r>
              <a:rPr lang="en"/>
              <a:t>: BGE-base, RoBERTa-base, or MPNet-base.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Two tracks</a:t>
            </a:r>
            <a:r>
              <a:rPr lang="en"/>
              <a:t> we can follow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Post-hoc track:</a:t>
            </a:r>
            <a:r>
              <a:rPr lang="en"/>
              <a:t>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first </a:t>
            </a:r>
            <a:r>
              <a:rPr b="1" lang="en"/>
              <a:t>fine-tune the backbone</a:t>
            </a:r>
            <a:r>
              <a:rPr lang="en"/>
              <a:t> to get an fp32 baseline, which </a:t>
            </a:r>
            <a:r>
              <a:rPr b="1" lang="en"/>
              <a:t>produces float32 embeddings</a:t>
            </a:r>
            <a:r>
              <a:rPr lang="en"/>
              <a:t>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Those embeddings are </a:t>
            </a:r>
            <a:r>
              <a:rPr b="1" lang="en"/>
              <a:t>then compressed</a:t>
            </a:r>
            <a:r>
              <a:rPr lang="en"/>
              <a:t> with various post-hoc methods (INT8, Binary, PQ, TurboQuant).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Training-time track</a:t>
            </a:r>
            <a:r>
              <a:rPr lang="en"/>
              <a:t>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instead of compressing afterward, we bake the compression into the loss or architecture and train it directly from the backbone.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can also stack multiple techniques here.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Shared evaluation</a:t>
            </a:r>
            <a:r>
              <a:rPr lang="en"/>
              <a:t>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Both tracks feed into the same NanoBEIR evaluation: 13 subsets,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scored with MRR@10.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also run paired significance tests to check whether score differences are statistically significant, not noise.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af79bc2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af79bc2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</a:t>
            </a:r>
            <a:r>
              <a:rPr b="1" lang="en"/>
              <a:t>block diagram shows the experimental design</a:t>
            </a:r>
            <a:r>
              <a:rPr lang="en"/>
              <a:t> used in the thesis, </a:t>
            </a:r>
            <a:r>
              <a:rPr b="1" lang="en"/>
              <a:t>built around the idea of fair comparison.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method is compared under the same backbone, same training data, and same benchmark.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Starting point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start from one of three pre-trained backbones</a:t>
            </a:r>
            <a:r>
              <a:rPr lang="en"/>
              <a:t>: BGE-base, RoBERTa-base, or MPNet-base.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Two tracks</a:t>
            </a:r>
            <a:r>
              <a:rPr lang="en"/>
              <a:t> we can follow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Post-hoc track:</a:t>
            </a:r>
            <a:r>
              <a:rPr lang="en"/>
              <a:t>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first </a:t>
            </a:r>
            <a:r>
              <a:rPr b="1" lang="en"/>
              <a:t>fine-tune the backbone</a:t>
            </a:r>
            <a:r>
              <a:rPr lang="en"/>
              <a:t> to get an fp32 baseline, which </a:t>
            </a:r>
            <a:r>
              <a:rPr b="1" lang="en"/>
              <a:t>produces float32 embeddings</a:t>
            </a:r>
            <a:r>
              <a:rPr lang="en"/>
              <a:t>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Those embeddings are </a:t>
            </a:r>
            <a:r>
              <a:rPr b="1" lang="en"/>
              <a:t>then compressed</a:t>
            </a:r>
            <a:r>
              <a:rPr lang="en"/>
              <a:t> with various post-hoc methods (INT8, Binary, PQ, TurboQuant).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Training-time track</a:t>
            </a:r>
            <a:r>
              <a:rPr lang="en"/>
              <a:t>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instead of compressing afterward, we bake the compression into the loss or architecture and train it directly from the backbone.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can also stack multiple techniques here.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Shared evaluation</a:t>
            </a:r>
            <a:r>
              <a:rPr lang="en"/>
              <a:t>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Both tracks feed into the same NanoBEIR evaluation: 13 subsets,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scored with MRR@10.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also run paired significance tests to check whether score differences are statistically significant, not noise.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844f2929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e844f2929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experimental</a:t>
            </a:r>
            <a:r>
              <a:rPr lang="en"/>
              <a:t> setup can introduce many configuration that can be </a:t>
            </a:r>
            <a:r>
              <a:rPr lang="en"/>
              <a:t>evaluated</a:t>
            </a:r>
            <a:r>
              <a:rPr lang="en"/>
              <a:t> independently.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</a:t>
            </a:r>
            <a:r>
              <a:rPr lang="en"/>
              <a:t>3 backbones, 6 training </a:t>
            </a:r>
            <a:r>
              <a:rPr lang="en"/>
              <a:t>variants</a:t>
            </a:r>
            <a:r>
              <a:rPr lang="en"/>
              <a:t>, 4 post hoc options and truncation: </a:t>
            </a:r>
            <a:r>
              <a:rPr b="1" lang="en"/>
              <a:t>we have evaluated different 226 configurations in this thesis.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Walking the six variants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fp32 baseline</a:t>
            </a:r>
            <a:r>
              <a:rPr lang="en"/>
              <a:t> — no architecture change, standard MNRL loss. And we have 4 post-hoc options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STE BAT</a:t>
            </a:r>
            <a:r>
              <a:rPr lang="en"/>
              <a:t> — change in arch adding a binarization layer (STE), MNRL loss. Inference is Binary only.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MRL</a:t>
            </a:r>
            <a:r>
              <a:rPr lang="en"/>
              <a:t> — no architecture change, but loss becomes MatryoshkaLoss. Post-hoc options are truncation, and on top we can stack </a:t>
            </a:r>
            <a:r>
              <a:rPr lang="en"/>
              <a:t>with other methods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MRL + STE</a:t>
            </a:r>
            <a:r>
              <a:rPr lang="en"/>
              <a:t> — our first stacked training-time method: changes both architecture (STE binarization) and loss (Matryoshka). At Inference: truncation and on top we can binarize.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A-tanh BAT</a:t>
            </a:r>
            <a:r>
              <a:rPr lang="en"/>
              <a:t> — same idea as STE BAT, but swaps the binarization layer for the annealed-tanh layer.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MRL + A-tanh</a:t>
            </a:r>
            <a:r>
              <a:rPr lang="en"/>
              <a:t> — the annealed-tanh equivalent of MRL + STE: annealed-tanh layer with Matryoshka loss.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844f2929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e844f2929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the </a:t>
            </a:r>
            <a:r>
              <a:rPr b="1" lang="en"/>
              <a:t>shared identical </a:t>
            </a:r>
            <a:r>
              <a:rPr b="1" lang="en"/>
              <a:t>hyperparameters</a:t>
            </a:r>
            <a:r>
              <a:rPr lang="en"/>
              <a:t> we used to train all the 6 </a:t>
            </a:r>
            <a:r>
              <a:rPr lang="en"/>
              <a:t>variants</a:t>
            </a:r>
            <a:r>
              <a:rPr lang="en"/>
              <a:t> for all </a:t>
            </a:r>
            <a:r>
              <a:rPr lang="en"/>
              <a:t>backbones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used AdamW with starting learning rate of 2x10^-6, which is typical lr.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LR is </a:t>
            </a:r>
            <a:r>
              <a:rPr lang="en"/>
              <a:t>scheduled</a:t>
            </a:r>
            <a:r>
              <a:rPr lang="en"/>
              <a:t> to delay linearly with a warmup of 0.1 and weight decay of 0.1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per GPU batch size is 16, we have 4 gpus and 8 </a:t>
            </a:r>
            <a:r>
              <a:rPr lang="en"/>
              <a:t>accumulation</a:t>
            </a:r>
            <a:r>
              <a:rPr lang="en"/>
              <a:t> steps. That makes the </a:t>
            </a:r>
            <a:r>
              <a:rPr lang="en"/>
              <a:t>effective</a:t>
            </a:r>
            <a:r>
              <a:rPr lang="en"/>
              <a:t> batch size of 512.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trained all </a:t>
            </a:r>
            <a:r>
              <a:rPr lang="en"/>
              <a:t>variants</a:t>
            </a:r>
            <a:r>
              <a:rPr lang="en"/>
              <a:t> for 1 epoch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max sequence length was set at 512 token and precision used for training was bf16.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844f2929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e844f2929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slide presents the </a:t>
            </a:r>
            <a:r>
              <a:rPr lang="en"/>
              <a:t>training</a:t>
            </a:r>
            <a:r>
              <a:rPr lang="en"/>
              <a:t> dataset.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used 7 public dataset.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pairs come in several forms: 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query → passage,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title → abstract from the science domain ,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duplicate questions ,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question → answer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Weighted sampling to rebalance the mixture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Raw sources are very </a:t>
            </a:r>
            <a:r>
              <a:rPr lang="en"/>
              <a:t>uneven</a:t>
            </a:r>
            <a:r>
              <a:rPr lang="en"/>
              <a:t> in size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 we apply per source weighting to rebalance them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Weight &lt; 1: </a:t>
            </a:r>
            <a:r>
              <a:rPr lang="en"/>
              <a:t>represents undersampling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Weight &gt; 1: </a:t>
            </a:r>
            <a:r>
              <a:rPr lang="en"/>
              <a:t>represents oversampling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</a:t>
            </a:r>
            <a:r>
              <a:rPr b="1" lang="en"/>
              <a:t>turns 58.73M</a:t>
            </a:r>
            <a:r>
              <a:rPr lang="en"/>
              <a:t> raw rows into a balanced </a:t>
            </a:r>
            <a:r>
              <a:rPr b="1" lang="en"/>
              <a:t>~4.19M effective</a:t>
            </a:r>
            <a:r>
              <a:rPr lang="en"/>
              <a:t> training rows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a1b04b390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ea1b04b390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</a:t>
            </a:r>
            <a:r>
              <a:rPr b="1" lang="en"/>
              <a:t>evaluate using NanoBEIR</a:t>
            </a:r>
            <a:r>
              <a:rPr lang="en"/>
              <a:t>, </a:t>
            </a:r>
            <a:r>
              <a:rPr b="1" lang="en"/>
              <a:t>derived</a:t>
            </a:r>
            <a:r>
              <a:rPr lang="en"/>
              <a:t> from BEIR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First,</a:t>
            </a:r>
            <a:r>
              <a:rPr b="1" lang="en"/>
              <a:t> let's see what BEIR</a:t>
            </a:r>
            <a:r>
              <a:rPr lang="en"/>
              <a:t> looks like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BEIR is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Popular benchmark for Information Retrieval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15+ datasets, many domains and task types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Tasks: QA, fact-checking, scientific, financial, argument, duplicate-question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3 components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Every dataset has the same 3 parts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Queries: List of query texts, each with an id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Corpus: List of documents to search, each with id + text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Qrels: </a:t>
            </a:r>
            <a:r>
              <a:rPr b="1" lang="en"/>
              <a:t>links a query to its relevant document by id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relationship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One query → many relevant docs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One doc → relevant to many queries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So: many-to-many, captured by Qrels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Bridge to NanoBEIR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BEIR corpus ≈ 33M docs → slow to encode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 we use NanoBEIR: same structure, runs fast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844f2929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e844f2929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slides </a:t>
            </a:r>
            <a:r>
              <a:rPr b="1" lang="en"/>
              <a:t>shows the distribution</a:t>
            </a:r>
            <a:r>
              <a:rPr lang="en"/>
              <a:t> of the NanoBEIR </a:t>
            </a:r>
            <a:r>
              <a:rPr lang="en"/>
              <a:t>which</a:t>
            </a:r>
            <a:r>
              <a:rPr lang="en"/>
              <a:t> was used as evaluation.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NanoBEIR is a </a:t>
            </a:r>
            <a:r>
              <a:rPr b="1" lang="en"/>
              <a:t>smaller subset</a:t>
            </a:r>
            <a:r>
              <a:rPr lang="en"/>
              <a:t> of the full BEIR benchmark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NanoBEIR keeps the same diversity (uses same subset)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composition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13 subsets, each covering a different retrieval task and domain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Each subset has 50 queries and roughly a 3k–6k document corpus.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 total: 649 queries and a 57,390-document corpus.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844f2929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e844f2929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844f2929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e844f2929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also used </a:t>
            </a:r>
            <a:r>
              <a:rPr lang="en"/>
              <a:t>significance</a:t>
            </a:r>
            <a:r>
              <a:rPr lang="en"/>
              <a:t> test to </a:t>
            </a:r>
            <a:r>
              <a:rPr b="1" lang="en"/>
              <a:t>determine</a:t>
            </a:r>
            <a:r>
              <a:rPr b="1" lang="en"/>
              <a:t> if the difference in metrics</a:t>
            </a:r>
            <a:r>
              <a:rPr lang="en"/>
              <a:t> is just </a:t>
            </a:r>
            <a:r>
              <a:rPr b="1" lang="en"/>
              <a:t>a noise or a real </a:t>
            </a:r>
            <a:r>
              <a:rPr lang="en"/>
              <a:t>difference.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procedure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For each 649 queries</a:t>
            </a:r>
            <a:r>
              <a:rPr lang="en"/>
              <a:t>, we compute score for both technique A and B.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then find the difference of the scores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test if the difference of score is normally distributed or not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 most cases the </a:t>
            </a:r>
            <a:r>
              <a:rPr lang="en"/>
              <a:t>distribution</a:t>
            </a:r>
            <a:r>
              <a:rPr lang="en"/>
              <a:t> is not normal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 we </a:t>
            </a:r>
            <a:r>
              <a:rPr b="1" lang="en"/>
              <a:t>mostly</a:t>
            </a:r>
            <a:r>
              <a:rPr b="1" lang="en"/>
              <a:t> use </a:t>
            </a:r>
            <a:r>
              <a:rPr b="1" lang="en"/>
              <a:t>Wilcoxon</a:t>
            </a:r>
            <a:r>
              <a:rPr b="1" lang="en"/>
              <a:t> test</a:t>
            </a:r>
            <a:r>
              <a:rPr lang="en"/>
              <a:t> which is non </a:t>
            </a:r>
            <a:r>
              <a:rPr lang="en"/>
              <a:t>parametric</a:t>
            </a:r>
            <a:r>
              <a:rPr lang="en"/>
              <a:t> test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</a:t>
            </a:r>
            <a:r>
              <a:rPr b="1" lang="en"/>
              <a:t> score difference is </a:t>
            </a:r>
            <a:r>
              <a:rPr b="1" lang="en"/>
              <a:t>statistically</a:t>
            </a:r>
            <a:r>
              <a:rPr b="1" lang="en"/>
              <a:t> significant at alpha of 5%</a:t>
            </a:r>
            <a:r>
              <a:rPr lang="en"/>
              <a:t> (lower than 5% is </a:t>
            </a:r>
            <a:r>
              <a:rPr lang="en"/>
              <a:t>considered</a:t>
            </a:r>
            <a:r>
              <a:rPr lang="en"/>
              <a:t> real difference)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844f2929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e844f2929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844f2929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e844f2929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8b1fc55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8b1fc55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</a:t>
            </a:r>
            <a:r>
              <a:rPr lang="en"/>
              <a:t>let's look</a:t>
            </a:r>
            <a:r>
              <a:rPr lang="en"/>
              <a:t> at the results of this thesis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844f2929e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e844f2929e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Let's</a:t>
            </a:r>
            <a:r>
              <a:rPr b="1" lang="en"/>
              <a:t> start the</a:t>
            </a:r>
            <a:r>
              <a:rPr lang="en"/>
              <a:t> result with the float 32 uncompressed baseline. </a:t>
            </a:r>
            <a:br>
              <a:rPr lang="en"/>
            </a:br>
            <a:br>
              <a:rPr lang="en"/>
            </a:br>
            <a:r>
              <a:rPr b="1" lang="en"/>
              <a:t>For the pretrained model. 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BGE has has the best </a:t>
            </a:r>
            <a:r>
              <a:rPr lang="en"/>
              <a:t>retrieval, Roberta has the worst and MPnet is somewhere in between.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is completely expected.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Also after fine tuning,</a:t>
            </a:r>
            <a:r>
              <a:rPr lang="en"/>
              <a:t>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bge performance barely change.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</a:t>
            </a:r>
            <a:r>
              <a:rPr b="1" lang="en"/>
              <a:t> statistical difference between</a:t>
            </a:r>
            <a:r>
              <a:rPr lang="en"/>
              <a:t> the score is not significant too.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For Roberta and Mpnet, the performance improve a lot because they were never trained on retrieval task.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844f2929e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e844f2929e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INT8 and Binary which are both post hoc </a:t>
            </a:r>
            <a:r>
              <a:rPr lang="en"/>
              <a:t>methods, we observe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Near lossless performance for INT* for all 3 backbones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But for binary, we can see about 3 to 5 % drop in performance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844f2929e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e844f2929e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Setup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For product quantization, we tried various parameter settings, which give different compression ratios.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Each backbone has two lines: the solid line is PQ with 8 bits per code, the dotted line is 4 bits per code.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Near-lossless at 32×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at 32×, PQ is near-lossless, especially for BGE</a:t>
            </a:r>
            <a:r>
              <a:rPr lang="en"/>
              <a:t>, where it sits right on the </a:t>
            </a:r>
            <a:r>
              <a:rPr b="1" lang="en"/>
              <a:t>float32 line.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8 bits beats 4 bits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solid line which is 8 bit beats the 4 bit in all </a:t>
            </a:r>
            <a:r>
              <a:rPr lang="en"/>
              <a:t>compression</a:t>
            </a:r>
            <a:r>
              <a:rPr lang="en"/>
              <a:t> ratio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Collapse past ~96×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holds up well until about 96×, after which it starts to collapse on all three backbones.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e844f2929e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e844f2929e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tested </a:t>
            </a:r>
            <a:r>
              <a:rPr lang="en"/>
              <a:t>Turbo-Quant</a:t>
            </a:r>
            <a:r>
              <a:rPr lang="en"/>
              <a:t> and it is doing really good. At 32x </a:t>
            </a:r>
            <a:r>
              <a:rPr lang="en"/>
              <a:t>compression</a:t>
            </a:r>
            <a:r>
              <a:rPr lang="en"/>
              <a:t> we can see about 2-3.5% drop in performance.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lower compression ratios, its is doing near lossless compression for all the backbones.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e844f2929e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e844f2929e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</a:t>
            </a:r>
            <a:r>
              <a:rPr b="1" lang="en"/>
              <a:t>chart </a:t>
            </a:r>
            <a:r>
              <a:rPr b="1" lang="en"/>
              <a:t>compares</a:t>
            </a:r>
            <a:r>
              <a:rPr b="1" lang="en"/>
              <a:t> all the post hoc</a:t>
            </a:r>
            <a:r>
              <a:rPr lang="en"/>
              <a:t> compression methods at 32x compression.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two pink bar are PQ</a:t>
            </a:r>
            <a:r>
              <a:rPr lang="en"/>
              <a:t> and it </a:t>
            </a:r>
            <a:r>
              <a:rPr b="1" lang="en"/>
              <a:t>dominates</a:t>
            </a:r>
            <a:r>
              <a:rPr lang="en"/>
              <a:t> for all backbones.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TQ is in the 2nd</a:t>
            </a:r>
            <a:r>
              <a:rPr lang="en"/>
              <a:t> place and simple </a:t>
            </a:r>
            <a:r>
              <a:rPr b="1" lang="en"/>
              <a:t>binarization is in the third place.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</a:t>
            </a:r>
            <a:r>
              <a:rPr b="1" lang="en"/>
              <a:t>orderding</a:t>
            </a:r>
            <a:r>
              <a:rPr lang="en"/>
              <a:t> </a:t>
            </a:r>
            <a:r>
              <a:rPr b="1" lang="en"/>
              <a:t>holds</a:t>
            </a:r>
            <a:r>
              <a:rPr lang="en"/>
              <a:t> for all backbones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e844f2929e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e844f2929e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this slide shows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Compares the two binarization-aware training (BAT) techniques, STE and annealed tanh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Also against post-hoc binarization and the full-precision fine-tuned baseline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Across all three backbones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b="1" lang="en"/>
              <a:t>BAT beats post-hoc binarization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Results are mixed by backbone, but one thing holds everywhere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On all three backbones, BAT beats post-hoc binarization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 vs annealed tanh is a close call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Between the two BAT methods, the competition is tight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Neither dominates on all three backbones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Interesting Result: RoBERTa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BAT models, despite 32x compression, beat the uncompressed fp32 baseline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Clear margin: +3.5% (STE), +6% (atanh)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Even MPNet's BAT is near-lossless in the same setting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For well trained model for </a:t>
            </a:r>
            <a:r>
              <a:rPr lang="en"/>
              <a:t>retrieval</a:t>
            </a:r>
            <a:r>
              <a:rPr lang="en"/>
              <a:t> like BGE don’t show this pattern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a1b04b390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ea1b04b390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</a:t>
            </a:r>
            <a:r>
              <a:rPr b="1" lang="en">
                <a:solidFill>
                  <a:schemeClr val="dk1"/>
                </a:solidFill>
              </a:rPr>
              <a:t>further investigate</a:t>
            </a:r>
            <a:r>
              <a:rPr lang="en">
                <a:solidFill>
                  <a:schemeClr val="dk1"/>
                </a:solidFill>
              </a:rPr>
              <a:t>, why BAT versions of roberta beat the uncompressed </a:t>
            </a:r>
            <a:r>
              <a:rPr lang="en">
                <a:solidFill>
                  <a:schemeClr val="dk1"/>
                </a:solidFill>
              </a:rPr>
              <a:t>version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also </a:t>
            </a:r>
            <a:r>
              <a:rPr b="1" lang="en">
                <a:solidFill>
                  <a:schemeClr val="dk1"/>
                </a:solidFill>
              </a:rPr>
              <a:t>looked at the recall@10</a:t>
            </a:r>
            <a:r>
              <a:rPr lang="en">
                <a:solidFill>
                  <a:schemeClr val="dk1"/>
                </a:solidFill>
              </a:rPr>
              <a:t> and it tells </a:t>
            </a:r>
            <a:r>
              <a:rPr lang="en">
                <a:solidFill>
                  <a:schemeClr val="dk1"/>
                </a:solidFill>
              </a:rPr>
              <a:t>different</a:t>
            </a:r>
            <a:r>
              <a:rPr lang="en">
                <a:solidFill>
                  <a:schemeClr val="dk1"/>
                </a:solidFill>
              </a:rPr>
              <a:t> story.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What Recall@10 shows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BAT versions </a:t>
            </a:r>
            <a:r>
              <a:rPr b="1" lang="en">
                <a:solidFill>
                  <a:schemeClr val="dk1"/>
                </a:solidFill>
              </a:rPr>
              <a:t>perform similar</a:t>
            </a:r>
            <a:r>
              <a:rPr lang="en">
                <a:solidFill>
                  <a:schemeClr val="dk1"/>
                </a:solidFill>
              </a:rPr>
              <a:t> to with the float32 baseline on recall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Wilcoxon significance test confirms that there is </a:t>
            </a:r>
            <a:r>
              <a:rPr b="1" lang="en">
                <a:solidFill>
                  <a:schemeClr val="dk1"/>
                </a:solidFill>
              </a:rPr>
              <a:t>no significant difference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Why the two metrics disagree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Recall ignores rank, it only checks coverage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But MRR is rank-sensitive,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a1b04b390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ea1b04b390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But why are BAT version </a:t>
            </a:r>
            <a:r>
              <a:rPr b="1" lang="en">
                <a:solidFill>
                  <a:schemeClr val="dk1"/>
                </a:solidFill>
              </a:rPr>
              <a:t>better at ranking</a:t>
            </a:r>
            <a:r>
              <a:rPr lang="en">
                <a:solidFill>
                  <a:schemeClr val="dk1"/>
                </a:solidFill>
              </a:rPr>
              <a:t> as well as getting the right results 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answer is in the geometry</a:t>
            </a:r>
            <a:r>
              <a:rPr lang="en">
                <a:solidFill>
                  <a:schemeClr val="dk1"/>
                </a:solidFill>
              </a:rPr>
              <a:t> of the embedding space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Reading the chart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Shows cumulative explained variance as we add principal components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Same plot used to pick the top components in PCA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RoBERTa float (the problem)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RoBERTa-FT has the </a:t>
            </a:r>
            <a:r>
              <a:rPr b="1" lang="en">
                <a:solidFill>
                  <a:schemeClr val="dk1"/>
                </a:solidFill>
              </a:rPr>
              <a:t>steepest curve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Its </a:t>
            </a:r>
            <a:r>
              <a:rPr b="1" lang="en">
                <a:solidFill>
                  <a:schemeClr val="dk1"/>
                </a:solidFill>
              </a:rPr>
              <a:t>information is packed</a:t>
            </a:r>
            <a:r>
              <a:rPr lang="en">
                <a:solidFill>
                  <a:schemeClr val="dk1"/>
                </a:solidFill>
              </a:rPr>
              <a:t> into a small effective dimension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When embeddings are squeezed like this, </a:t>
            </a:r>
            <a:r>
              <a:rPr b="1" lang="en">
                <a:solidFill>
                  <a:schemeClr val="dk1"/>
                </a:solidFill>
              </a:rPr>
              <a:t>similar documents look almost identical</a:t>
            </a:r>
            <a:r>
              <a:rPr lang="en">
                <a:solidFill>
                  <a:schemeClr val="dk1"/>
                </a:solidFill>
              </a:rPr>
              <a:t>, so ranking them is hard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RoBERTa-BAT (the fix)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The BAT versions have the most spread-out curves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That </a:t>
            </a:r>
            <a:r>
              <a:rPr b="1" lang="en">
                <a:solidFill>
                  <a:schemeClr val="dk1"/>
                </a:solidFill>
              </a:rPr>
              <a:t>extra separation makes </a:t>
            </a:r>
            <a:r>
              <a:rPr lang="en">
                <a:solidFill>
                  <a:schemeClr val="dk1"/>
                </a:solidFill>
              </a:rPr>
              <a:t>similar documents </a:t>
            </a:r>
            <a:r>
              <a:rPr b="1" lang="en">
                <a:solidFill>
                  <a:schemeClr val="dk1"/>
                </a:solidFill>
              </a:rPr>
              <a:t>easier</a:t>
            </a:r>
            <a:r>
              <a:rPr lang="en">
                <a:solidFill>
                  <a:schemeClr val="dk1"/>
                </a:solidFill>
              </a:rPr>
              <a:t> to tell apart, so </a:t>
            </a:r>
            <a:r>
              <a:rPr b="1" lang="en">
                <a:solidFill>
                  <a:schemeClr val="dk1"/>
                </a:solidFill>
              </a:rPr>
              <a:t>ranking</a:t>
            </a:r>
            <a:r>
              <a:rPr lang="en">
                <a:solidFill>
                  <a:schemeClr val="dk1"/>
                </a:solidFill>
              </a:rPr>
              <a:t> improves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eaf638cfc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eaf638cfc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But why are BAT version </a:t>
            </a:r>
            <a:r>
              <a:rPr b="1" lang="en">
                <a:solidFill>
                  <a:schemeClr val="dk1"/>
                </a:solidFill>
              </a:rPr>
              <a:t>better at ranking</a:t>
            </a:r>
            <a:r>
              <a:rPr lang="en">
                <a:solidFill>
                  <a:schemeClr val="dk1"/>
                </a:solidFill>
              </a:rPr>
              <a:t> as well as getting the right results 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answer is in the geometry</a:t>
            </a:r>
            <a:r>
              <a:rPr lang="en">
                <a:solidFill>
                  <a:schemeClr val="dk1"/>
                </a:solidFill>
              </a:rPr>
              <a:t> of the embedding space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Reading the chart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Shows cumulative explained variance as we add principal components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Same plot used to pick the top components in PCA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RoBERTa float (the problem)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RoBERTa-FT has the </a:t>
            </a:r>
            <a:r>
              <a:rPr b="1" lang="en">
                <a:solidFill>
                  <a:schemeClr val="dk1"/>
                </a:solidFill>
              </a:rPr>
              <a:t>steepest curve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Its </a:t>
            </a:r>
            <a:r>
              <a:rPr b="1" lang="en">
                <a:solidFill>
                  <a:schemeClr val="dk1"/>
                </a:solidFill>
              </a:rPr>
              <a:t>information is packed</a:t>
            </a:r>
            <a:r>
              <a:rPr lang="en">
                <a:solidFill>
                  <a:schemeClr val="dk1"/>
                </a:solidFill>
              </a:rPr>
              <a:t> into a small effective dimension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When embeddings are squeezed like this, </a:t>
            </a:r>
            <a:r>
              <a:rPr b="1" lang="en">
                <a:solidFill>
                  <a:schemeClr val="dk1"/>
                </a:solidFill>
              </a:rPr>
              <a:t>similar documents look almost identical</a:t>
            </a:r>
            <a:r>
              <a:rPr lang="en">
                <a:solidFill>
                  <a:schemeClr val="dk1"/>
                </a:solidFill>
              </a:rPr>
              <a:t>, so ranking them is hard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RoBERTa-BAT (the fix)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The BAT versions have the most spread-out curves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That </a:t>
            </a:r>
            <a:r>
              <a:rPr b="1" lang="en">
                <a:solidFill>
                  <a:schemeClr val="dk1"/>
                </a:solidFill>
              </a:rPr>
              <a:t>extra separation makes </a:t>
            </a:r>
            <a:r>
              <a:rPr lang="en">
                <a:solidFill>
                  <a:schemeClr val="dk1"/>
                </a:solidFill>
              </a:rPr>
              <a:t>similar documents </a:t>
            </a:r>
            <a:r>
              <a:rPr b="1" lang="en">
                <a:solidFill>
                  <a:schemeClr val="dk1"/>
                </a:solidFill>
              </a:rPr>
              <a:t>easier</a:t>
            </a:r>
            <a:r>
              <a:rPr lang="en">
                <a:solidFill>
                  <a:schemeClr val="dk1"/>
                </a:solidFill>
              </a:rPr>
              <a:t> to tell apart, so </a:t>
            </a:r>
            <a:r>
              <a:rPr b="1" lang="en">
                <a:solidFill>
                  <a:schemeClr val="dk1"/>
                </a:solidFill>
              </a:rPr>
              <a:t>ranking</a:t>
            </a:r>
            <a:r>
              <a:rPr lang="en">
                <a:solidFill>
                  <a:schemeClr val="dk1"/>
                </a:solidFill>
              </a:rPr>
              <a:t> improves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844f2929e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e844f2929e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</a:t>
            </a:r>
            <a:r>
              <a:rPr b="1" lang="en"/>
              <a:t>continue the </a:t>
            </a:r>
            <a:r>
              <a:rPr b="1" lang="en"/>
              <a:t>competition</a:t>
            </a:r>
            <a:r>
              <a:rPr lang="en"/>
              <a:t> of STE with Annealed tanh but </a:t>
            </a:r>
            <a:r>
              <a:rPr b="1" lang="en"/>
              <a:t>this time when we stack it with MRL.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see that</a:t>
            </a:r>
            <a:r>
              <a:rPr b="1" lang="en"/>
              <a:t> MRL + Atanh beats MRL+STE </a:t>
            </a:r>
            <a:r>
              <a:rPr lang="en"/>
              <a:t>for all backbones and compression ratios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reasons</a:t>
            </a:r>
            <a:r>
              <a:rPr lang="en"/>
              <a:t> is that the sin() function used for STE during forward pass removes a lot of floating point information required to compute better gradients.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844f2929e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e844f2929e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were to use MRL alone, the </a:t>
            </a:r>
            <a:r>
              <a:rPr b="1" lang="en"/>
              <a:t>performance drops</a:t>
            </a:r>
            <a:r>
              <a:rPr lang="en"/>
              <a:t> as we truncate more and more and </a:t>
            </a:r>
            <a:r>
              <a:rPr b="1" lang="en"/>
              <a:t>starts to collapse after 128 d</a:t>
            </a:r>
            <a:endParaRPr b="1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e844f2929e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e844f2929e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this slide shows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charts </a:t>
            </a:r>
            <a:r>
              <a:rPr b="1" lang="en"/>
              <a:t>shows the </a:t>
            </a:r>
            <a:r>
              <a:rPr b="1" lang="en"/>
              <a:t>retrieval</a:t>
            </a:r>
            <a:r>
              <a:rPr b="1" lang="en"/>
              <a:t> performance</a:t>
            </a:r>
            <a:r>
              <a:rPr lang="en"/>
              <a:t> at various compression ratios </a:t>
            </a:r>
            <a:r>
              <a:rPr b="1" lang="en"/>
              <a:t>when stacking MRL with other techniques.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stack MRL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Stacking MRL pushes compression much higher while holding retrieval quality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key result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At high compression, MRL + PQ dominates in all backbones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e844f2929e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e844f2929e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shows the </a:t>
            </a:r>
            <a:r>
              <a:rPr b="1" lang="en"/>
              <a:t>pareto frontier of the compression ratio vs performance </a:t>
            </a:r>
            <a:r>
              <a:rPr b="1" lang="en"/>
              <a:t>tradeoff.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Post-hoc seem to dominate the frontier except at 32x compression.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e844f2929e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e844f2929e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also came up with this cheat sheet, that would be helpful for the engineers.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e8b1fc55c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e8b1fc55c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e8665c2d3f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e8665c2d3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</a:t>
            </a:r>
            <a:r>
              <a:rPr lang="en"/>
              <a:t> conclude the presentation </a:t>
            </a:r>
            <a:r>
              <a:rPr b="1" lang="en"/>
              <a:t>recalling</a:t>
            </a:r>
            <a:r>
              <a:rPr b="1" lang="en"/>
              <a:t> our research question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e8665c2d3f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e8665c2d3f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8665c2d3f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e8665c2d3f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e8665c2d3f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e8665c2d3f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ea1b04b390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ea1b04b390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e8665c2d3f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e8665c2d3f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hyperlink" Target="http://www.youtube.com/watch?v=2QgfmpQsKn8" TargetMode="External"/><Relationship Id="rId4" Type="http://schemas.openxmlformats.org/officeDocument/2006/relationships/image" Target="../media/image35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435500"/>
            <a:ext cx="8520600" cy="174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Embedding Compression for Dense Retrieval: A Controlled Comparison of Post-hoc, Training-time, and Stacked Methods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86300"/>
            <a:ext cx="8520600" cy="4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Sajil Awale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062374" cy="15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3866776"/>
            <a:ext cx="85206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Advisor - Dr.  Tathagata Mukherjee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June 11, 2026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lang="en">
                <a:solidFill>
                  <a:srgbClr val="1A1A1A"/>
                </a:solidFill>
              </a:rPr>
              <a:t>Introduction</a:t>
            </a:r>
            <a:endParaRPr>
              <a:solidFill>
                <a:srgbClr val="1A1A1A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lang="en">
                <a:solidFill>
                  <a:srgbClr val="1A1A1A"/>
                </a:solidFill>
              </a:rPr>
              <a:t>Background</a:t>
            </a:r>
            <a:endParaRPr>
              <a:solidFill>
                <a:srgbClr val="1A1A1A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lang="en">
                <a:solidFill>
                  <a:srgbClr val="1A1A1A"/>
                </a:solidFill>
              </a:rPr>
              <a:t>Related Works</a:t>
            </a:r>
            <a:endParaRPr>
              <a:solidFill>
                <a:srgbClr val="1A1A1A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lang="en">
                <a:solidFill>
                  <a:srgbClr val="1A1A1A"/>
                </a:solidFill>
              </a:rPr>
              <a:t>Methodology</a:t>
            </a:r>
            <a:endParaRPr>
              <a:solidFill>
                <a:srgbClr val="1A1A1A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lang="en">
                <a:solidFill>
                  <a:srgbClr val="1A1A1A"/>
                </a:solidFill>
              </a:rPr>
              <a:t>Results and Findings</a:t>
            </a:r>
            <a:endParaRPr>
              <a:solidFill>
                <a:srgbClr val="1A1A1A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lang="en">
                <a:solidFill>
                  <a:srgbClr val="1A1A1A"/>
                </a:solidFill>
              </a:rPr>
              <a:t>Conclusion and Future Work</a:t>
            </a:r>
            <a:endParaRPr>
              <a:solidFill>
                <a:srgbClr val="1A1A1A"/>
              </a:solidFill>
            </a:endParaRPr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0" y="22854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</a:t>
            </a:r>
            <a:r>
              <a:rPr lang="en"/>
              <a:t>Retrieval System?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Introduction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075" y="1227700"/>
            <a:ext cx="5507850" cy="31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</a:t>
            </a:r>
            <a:r>
              <a:rPr lang="en"/>
              <a:t>Retrieval System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From keyword to meaning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Introduction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800" y="1772750"/>
            <a:ext cx="7400400" cy="2529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Modern Dense </a:t>
            </a:r>
            <a:r>
              <a:rPr lang="en"/>
              <a:t>Retrieval</a:t>
            </a:r>
            <a:r>
              <a:rPr lang="en"/>
              <a:t> Work ?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Encoder: Foundation for Modern Dense </a:t>
            </a:r>
            <a:r>
              <a:rPr lang="en">
                <a:solidFill>
                  <a:schemeClr val="dk1"/>
                </a:solidFill>
              </a:rPr>
              <a:t>Retrieval System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Text to Vectors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Similar meaning have similar vectors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Introduction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988" y="2680200"/>
            <a:ext cx="8012026" cy="10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for Dense Retrieval System (Bi-Encoder)</a:t>
            </a:r>
            <a:endParaRPr/>
          </a:p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Introduction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763" y="1645675"/>
            <a:ext cx="7114476" cy="305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520600" cy="4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Encode once, search many times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of Dense </a:t>
            </a:r>
            <a:r>
              <a:rPr lang="en"/>
              <a:t>Retrieval</a:t>
            </a:r>
            <a:r>
              <a:rPr lang="en"/>
              <a:t> System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4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Retrieval-Augmented Generation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Introduction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8638" y="1782825"/>
            <a:ext cx="4306734" cy="32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Embedding Compression ?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8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Index Size  = 32 bits * Embedding Dimension * Corpus Size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All embeddings stays in RAM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Introduction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8663" y="1920575"/>
            <a:ext cx="4206676" cy="298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</a:t>
            </a:r>
            <a:r>
              <a:rPr lang="en"/>
              <a:t> is Expensive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Memory-optimized x2gd EC2 instances cost $3.80 per GB-month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2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Introduction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613" y="1652575"/>
            <a:ext cx="4336785" cy="307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Example of Embedding Compression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1152475"/>
            <a:ext cx="8520600" cy="8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Keep the sign, drop the rest (32× </a:t>
            </a:r>
            <a:r>
              <a:rPr lang="en">
                <a:solidFill>
                  <a:schemeClr val="dk1"/>
                </a:solidFill>
              </a:rPr>
              <a:t>compression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Binarization / Binary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3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Introduction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212" y="2109525"/>
            <a:ext cx="5643576" cy="26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threshold of 0</a:t>
            </a:r>
            <a:endParaRPr/>
          </a:p>
        </p:txBody>
      </p:sp>
      <p:sp>
        <p:nvSpPr>
          <p:cNvPr id="148" name="Google Shape;14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4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Introduction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2113" y="1278425"/>
            <a:ext cx="5179775" cy="338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with Embedding Compression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311700" y="1152475"/>
            <a:ext cx="85206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Trade off of compression vs </a:t>
            </a:r>
            <a:r>
              <a:rPr lang="en">
                <a:solidFill>
                  <a:schemeClr val="dk1"/>
                </a:solidFill>
              </a:rPr>
              <a:t>retrieval</a:t>
            </a:r>
            <a:r>
              <a:rPr lang="en">
                <a:solidFill>
                  <a:schemeClr val="dk1"/>
                </a:solidFill>
              </a:rPr>
              <a:t> quality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" name="Google Shape;15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5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Introduction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225" y="1758525"/>
            <a:ext cx="4775549" cy="327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Open Questions</a:t>
            </a:r>
            <a:endParaRPr/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311700" y="1152475"/>
            <a:ext cx="8520600" cy="8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Which technique compresses the most while keeping quality?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This thesis: </a:t>
            </a:r>
            <a:r>
              <a:rPr lang="en">
                <a:solidFill>
                  <a:schemeClr val="dk1"/>
                </a:solidFill>
              </a:rPr>
              <a:t>systematic</a:t>
            </a:r>
            <a:r>
              <a:rPr lang="en">
                <a:solidFill>
                  <a:schemeClr val="dk1"/>
                </a:solidFill>
              </a:rPr>
              <a:t> fair </a:t>
            </a:r>
            <a:r>
              <a:rPr lang="en">
                <a:solidFill>
                  <a:schemeClr val="dk1"/>
                </a:solidFill>
              </a:rPr>
              <a:t>comparison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6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Introduction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68" name="Google Shape;16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5175" y="1967275"/>
            <a:ext cx="4073649" cy="308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0" y="22854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174" name="Google Shape;17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Compression Landscape</a:t>
            </a:r>
            <a:endParaRPr/>
          </a:p>
        </p:txBody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311700" y="1152475"/>
            <a:ext cx="85206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Two axes: when you compress, and how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Background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83" name="Google Shape;1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725" y="1919525"/>
            <a:ext cx="7108560" cy="269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Post-Hoc Precision Reduction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311700" y="1152475"/>
            <a:ext cx="8520600" cy="35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Binary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INT8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Near lossless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Need calibration data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Bucket </a:t>
            </a:r>
            <a:r>
              <a:rPr lang="en">
                <a:solidFill>
                  <a:schemeClr val="dk1"/>
                </a:solidFill>
              </a:rPr>
              <a:t>range</a:t>
            </a:r>
            <a:r>
              <a:rPr lang="en">
                <a:solidFill>
                  <a:schemeClr val="dk1"/>
                </a:solidFill>
              </a:rPr>
              <a:t> are uniform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Google Shape;19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29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Background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92" name="Google Shape;19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0603" y="1974200"/>
            <a:ext cx="4172973" cy="27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Post-Hoc Precision Reduction</a:t>
            </a:r>
            <a:endParaRPr/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311700" y="1152475"/>
            <a:ext cx="8520600" cy="8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TurboQuant (2025)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" name="Google Shape;19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0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Background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201" name="Google Shape;20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475" y="2023838"/>
            <a:ext cx="8187058" cy="243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Post-Hoc Learning to Hash</a:t>
            </a:r>
            <a:endParaRPr/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311700" y="1152475"/>
            <a:ext cx="8520600" cy="8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Product Quantization (PQ)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Size = M × log2(K) bits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1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Background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210" name="Google Shape;2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175" y="1578475"/>
            <a:ext cx="5413951" cy="356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Compression Aware Training</a:t>
            </a:r>
            <a:endParaRPr/>
          </a:p>
        </p:txBody>
      </p:sp>
      <p:sp>
        <p:nvSpPr>
          <p:cNvPr id="216" name="Google Shape;216;p32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Bake the compression into the loss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7" name="Google Shape;21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32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Background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219" name="Google Shape;2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63" y="1986600"/>
            <a:ext cx="8175475" cy="213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Negative Ranking Loss (MNRL)</a:t>
            </a:r>
            <a:endParaRPr/>
          </a:p>
        </p:txBody>
      </p:sp>
      <p:sp>
        <p:nvSpPr>
          <p:cNvPr id="225" name="Google Shape;225;p33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Pull the true pair together, push the rest apart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6" name="Google Shape;22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3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Background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228" name="Google Shape;22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5625" y="1897100"/>
            <a:ext cx="5412751" cy="284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Binarization Aware Training (BAT)</a:t>
            </a:r>
            <a:endParaRPr/>
          </a:p>
        </p:txBody>
      </p:sp>
      <p:sp>
        <p:nvSpPr>
          <p:cNvPr id="234" name="Google Shape;234;p34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sign() is not differentiable at x = 0, and its gradient is zero everywhere else.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5" name="Google Shape;23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34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Background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237" name="Google Shape;2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000" y="1859925"/>
            <a:ext cx="6557976" cy="327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Gradients Approximation: STE vs Annealed Tanh</a:t>
            </a:r>
            <a:endParaRPr/>
          </a:p>
        </p:txBody>
      </p:sp>
      <p:sp>
        <p:nvSpPr>
          <p:cNvPr id="243" name="Google Shape;243;p35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Two ways to get a usable gradient through sign()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4" name="Google Shape;24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35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Background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246" name="Google Shape;2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400" y="1610800"/>
            <a:ext cx="8425195" cy="328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Matryoshka Representation Learning (MRL)</a:t>
            </a:r>
            <a:endParaRPr/>
          </a:p>
        </p:txBody>
      </p:sp>
      <p:sp>
        <p:nvSpPr>
          <p:cNvPr id="252" name="Google Shape;252;p36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One model trained at many embedding </a:t>
            </a:r>
            <a:r>
              <a:rPr lang="en">
                <a:solidFill>
                  <a:schemeClr val="dk1"/>
                </a:solidFill>
              </a:rPr>
              <a:t>truncation</a:t>
            </a:r>
            <a:r>
              <a:rPr lang="en">
                <a:solidFill>
                  <a:schemeClr val="dk1"/>
                </a:solidFill>
              </a:rPr>
              <a:t> at once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" name="Google Shape;25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36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Background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255" name="Google Shape;25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563" y="1725175"/>
            <a:ext cx="6362875" cy="328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Retrieval</a:t>
            </a:r>
            <a:r>
              <a:rPr lang="en"/>
              <a:t> Quality Metrics </a:t>
            </a:r>
            <a:endParaRPr/>
          </a:p>
        </p:txBody>
      </p:sp>
      <p:sp>
        <p:nvSpPr>
          <p:cNvPr id="261" name="Google Shape;261;p37"/>
          <p:cNvSpPr txBox="1"/>
          <p:nvPr>
            <p:ph idx="1" type="body"/>
          </p:nvPr>
        </p:nvSpPr>
        <p:spPr>
          <a:xfrm>
            <a:off x="311700" y="1152475"/>
            <a:ext cx="8520600" cy="11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Mean Reciprocal Rank (MRR) @10 as primary metric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MRR@10: how high is the first correct hit in top 10 results?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" name="Google Shape;26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7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Background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264" name="Google Shape;26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625" y="2670175"/>
            <a:ext cx="3200774" cy="105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7025" y="1962025"/>
            <a:ext cx="4008050" cy="29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/>
          <p:nvPr>
            <p:ph type="title"/>
          </p:nvPr>
        </p:nvSpPr>
        <p:spPr>
          <a:xfrm>
            <a:off x="0" y="22854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Works</a:t>
            </a:r>
            <a:endParaRPr/>
          </a:p>
        </p:txBody>
      </p:sp>
      <p:sp>
        <p:nvSpPr>
          <p:cNvPr id="271" name="Google Shape;27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Works</a:t>
            </a:r>
            <a:endParaRPr/>
          </a:p>
        </p:txBody>
      </p:sp>
      <p:sp>
        <p:nvSpPr>
          <p:cNvPr id="277" name="Google Shape;27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9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Related Works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79" name="Google Shape;279;p39"/>
          <p:cNvSpPr txBox="1"/>
          <p:nvPr>
            <p:ph idx="1" type="body"/>
          </p:nvPr>
        </p:nvSpPr>
        <p:spPr>
          <a:xfrm>
            <a:off x="311700" y="1152475"/>
            <a:ext cx="85206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CoRECT - Controlled Retrieval Evaluation of Compression Techniques (2026)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Closest prior work in evaluation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Compares </a:t>
            </a:r>
            <a:r>
              <a:rPr lang="en">
                <a:solidFill>
                  <a:schemeClr val="dk1"/>
                </a:solidFill>
              </a:rPr>
              <a:t>retrieval</a:t>
            </a:r>
            <a:r>
              <a:rPr lang="en">
                <a:solidFill>
                  <a:schemeClr val="dk1"/>
                </a:solidFill>
              </a:rPr>
              <a:t> performance vs Corpus Size &amp; Compression Ratios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Largest controlled study: 4 models × 8+ methods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Gap: post-hoc methods only, no training-time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QAMA - Quantization-Aware Matryoshka Adaptation (CIKM 2025)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Closest prior work in method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Stacks MRL with multibit quantization-aware training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Learnable thresholds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Hybrid precision: 2-bit early dims → 0.5-bit late (~1.6 bit/dim)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Gap: no tanh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Works</a:t>
            </a:r>
            <a:endParaRPr/>
          </a:p>
        </p:txBody>
      </p:sp>
      <p:sp>
        <p:nvSpPr>
          <p:cNvPr id="285" name="Google Shape;28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40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Related Works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87" name="Google Shape;287;p40"/>
          <p:cNvSpPr txBox="1"/>
          <p:nvPr>
            <p:ph idx="1" type="body"/>
          </p:nvPr>
        </p:nvSpPr>
        <p:spPr>
          <a:xfrm>
            <a:off x="311700" y="1152475"/>
            <a:ext cx="85206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BPR — Binary Passage Retriever (Yamada et al., ACL 2021)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Compares </a:t>
            </a:r>
            <a:r>
              <a:rPr lang="en">
                <a:solidFill>
                  <a:schemeClr val="dk1"/>
                </a:solidFill>
              </a:rPr>
              <a:t>retrieval</a:t>
            </a:r>
            <a:r>
              <a:rPr lang="en">
                <a:solidFill>
                  <a:schemeClr val="dk1"/>
                </a:solidFill>
              </a:rPr>
              <a:t> of annealed tanh </a:t>
            </a:r>
            <a:r>
              <a:rPr lang="en">
                <a:solidFill>
                  <a:schemeClr val="dk1"/>
                </a:solidFill>
              </a:rPr>
              <a:t>with</a:t>
            </a:r>
            <a:r>
              <a:rPr lang="en">
                <a:solidFill>
                  <a:schemeClr val="dk1"/>
                </a:solidFill>
              </a:rPr>
              <a:t> PQ and full precision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Shows </a:t>
            </a:r>
            <a:r>
              <a:rPr lang="en">
                <a:solidFill>
                  <a:schemeClr val="dk1"/>
                </a:solidFill>
              </a:rPr>
              <a:t>annealed tanh better than PQ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Gap: tanh only, never compared with STE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BEBR — Binary Embedding-based Retrieval at Tencent (Gan et al., KDD 2023)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Uses </a:t>
            </a:r>
            <a:r>
              <a:rPr lang="en">
                <a:solidFill>
                  <a:schemeClr val="dk1"/>
                </a:solidFill>
              </a:rPr>
              <a:t>recurrent residual binarization for multibit compression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Has runtime flexible bit depth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Task/model-agnostic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Trained separate from encoder (Not end to end training pipeline)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Gap: STE based only; different model, benchmark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Works</a:t>
            </a:r>
            <a:endParaRPr/>
          </a:p>
        </p:txBody>
      </p:sp>
      <p:sp>
        <p:nvSpPr>
          <p:cNvPr id="293" name="Google Shape;29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41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Related Works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95" name="Google Shape;295;p41"/>
          <p:cNvSpPr txBox="1"/>
          <p:nvPr>
            <p:ph idx="1" type="body"/>
          </p:nvPr>
        </p:nvSpPr>
        <p:spPr>
          <a:xfrm>
            <a:off x="311700" y="1152475"/>
            <a:ext cx="85206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INDUS-SDE (Pantha et al., KDD 2026) - our prior work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Focuses on establishing new encoder model for </a:t>
            </a:r>
            <a:r>
              <a:rPr lang="en">
                <a:solidFill>
                  <a:schemeClr val="dk1"/>
                </a:solidFill>
              </a:rPr>
              <a:t>scientific</a:t>
            </a:r>
            <a:r>
              <a:rPr lang="en">
                <a:solidFill>
                  <a:schemeClr val="dk1"/>
                </a:solidFill>
              </a:rPr>
              <a:t> applications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Post-hoc Binary vs Binary Aware Training (BAT-STE)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Demonstrates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BAT-STE better than Post-hoc Binary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Gap: single model, single domain benchmark, uses only STE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Gap Matrix </a:t>
            </a:r>
            <a:endParaRPr/>
          </a:p>
        </p:txBody>
      </p:sp>
      <p:sp>
        <p:nvSpPr>
          <p:cNvPr id="301" name="Google Shape;30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42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Related Works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303" name="Google Shape;30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75" y="1552350"/>
            <a:ext cx="8295050" cy="27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/>
          <p:nvPr>
            <p:ph type="title"/>
          </p:nvPr>
        </p:nvSpPr>
        <p:spPr>
          <a:xfrm>
            <a:off x="0" y="22854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309" name="Google Shape;30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Design</a:t>
            </a:r>
            <a:endParaRPr/>
          </a:p>
        </p:txBody>
      </p:sp>
      <p:sp>
        <p:nvSpPr>
          <p:cNvPr id="315" name="Google Shape;31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4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Methodology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317" name="Google Shape;317;p44"/>
          <p:cNvSpPr txBox="1"/>
          <p:nvPr>
            <p:ph idx="1" type="body"/>
          </p:nvPr>
        </p:nvSpPr>
        <p:spPr>
          <a:xfrm>
            <a:off x="311700" y="1152475"/>
            <a:ext cx="85206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Fair </a:t>
            </a:r>
            <a:r>
              <a:rPr lang="en">
                <a:solidFill>
                  <a:schemeClr val="dk1"/>
                </a:solidFill>
              </a:rPr>
              <a:t>comparison</a:t>
            </a:r>
            <a:r>
              <a:rPr lang="en">
                <a:solidFill>
                  <a:schemeClr val="dk1"/>
                </a:solidFill>
              </a:rPr>
              <a:t>: Same backbone, Same data, Same benchmark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318" name="Google Shape;3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300" y="1574850"/>
            <a:ext cx="6385375" cy="35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Setup: Backbone Models</a:t>
            </a:r>
            <a:endParaRPr/>
          </a:p>
        </p:txBody>
      </p:sp>
      <p:sp>
        <p:nvSpPr>
          <p:cNvPr id="324" name="Google Shape;32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5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Methodology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326" name="Google Shape;326;p45"/>
          <p:cNvSpPr txBox="1"/>
          <p:nvPr>
            <p:ph idx="1" type="body"/>
          </p:nvPr>
        </p:nvSpPr>
        <p:spPr>
          <a:xfrm>
            <a:off x="311700" y="1152475"/>
            <a:ext cx="8520600" cy="35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BGE-base-en-v1.5 (Primary)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109M parameters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Pre-training: MLM + contrastive retrieval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Strongest retrieval prior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RoBERTa-base (Secondary)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125M parameters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Pre-training: token-level MLM only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Weakest initial retrieval geometry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MPNet-base (Secondary)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110M parameters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Pre-training: masked + permuted LM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Middle-ground retrieval quality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All produce 768-dim float32 embeddings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Backbone quality ordering: BGE &gt; MPNet &gt; RoBERTa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Six Training Variants and Their Combinations</a:t>
            </a:r>
            <a:endParaRPr/>
          </a:p>
        </p:txBody>
      </p:sp>
      <p:sp>
        <p:nvSpPr>
          <p:cNvPr id="332" name="Google Shape;33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6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Methodology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334" name="Google Shape;334;p46"/>
          <p:cNvSpPr txBox="1"/>
          <p:nvPr>
            <p:ph idx="1" type="body"/>
          </p:nvPr>
        </p:nvSpPr>
        <p:spPr>
          <a:xfrm>
            <a:off x="311700" y="1152475"/>
            <a:ext cx="8520600" cy="4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3 backbones  ×  6 training varients  ×  {INT8 · Binary · PQ · TQ}  ×  truncation {32…768}   = 226 configs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335" name="Google Shape;33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950" y="1895325"/>
            <a:ext cx="7688076" cy="27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Hyperparameter</a:t>
            </a:r>
            <a:endParaRPr/>
          </a:p>
        </p:txBody>
      </p:sp>
      <p:sp>
        <p:nvSpPr>
          <p:cNvPr id="341" name="Google Shape;34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47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Methodology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343" name="Google Shape;343;p47"/>
          <p:cNvSpPr txBox="1"/>
          <p:nvPr>
            <p:ph idx="1" type="body"/>
          </p:nvPr>
        </p:nvSpPr>
        <p:spPr>
          <a:xfrm>
            <a:off x="311700" y="1152475"/>
            <a:ext cx="8520600" cy="4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One hyperparameter, shared across all 6 variants and all 3 backbones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344" name="Google Shape;34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700" y="1910875"/>
            <a:ext cx="6540598" cy="275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Dataset</a:t>
            </a:r>
            <a:endParaRPr/>
          </a:p>
        </p:txBody>
      </p:sp>
      <p:sp>
        <p:nvSpPr>
          <p:cNvPr id="350" name="Google Shape;35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48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Methodology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352" name="Google Shape;352;p48"/>
          <p:cNvSpPr txBox="1"/>
          <p:nvPr>
            <p:ph idx="1" type="body"/>
          </p:nvPr>
        </p:nvSpPr>
        <p:spPr>
          <a:xfrm>
            <a:off x="311700" y="1152475"/>
            <a:ext cx="8520600" cy="4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7 public sources; weighted sampling to rebalance the mixture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353" name="Google Shape;35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138" y="1749525"/>
            <a:ext cx="7043714" cy="3048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8"/>
          <p:cNvSpPr/>
          <p:nvPr/>
        </p:nvSpPr>
        <p:spPr>
          <a:xfrm>
            <a:off x="1016050" y="4029800"/>
            <a:ext cx="7043700" cy="4623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Evaluation Benchmark: What BEIR Looks Like</a:t>
            </a:r>
            <a:endParaRPr/>
          </a:p>
        </p:txBody>
      </p:sp>
      <p:sp>
        <p:nvSpPr>
          <p:cNvPr id="360" name="Google Shape;36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49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Methodology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362" name="Google Shape;362;p49"/>
          <p:cNvSpPr txBox="1"/>
          <p:nvPr>
            <p:ph idx="1" type="body"/>
          </p:nvPr>
        </p:nvSpPr>
        <p:spPr>
          <a:xfrm>
            <a:off x="311700" y="1152475"/>
            <a:ext cx="8520600" cy="11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Benchmark for Information Retrieval (BEIR)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15+ dataset across diverse domains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Pair of Task: QA, fact-checking, scientific, financial, argument, duplicate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63" name="Google Shape;3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2" y="2883300"/>
            <a:ext cx="9109798" cy="14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Benchmark: NanoBEIR</a:t>
            </a:r>
            <a:endParaRPr/>
          </a:p>
        </p:txBody>
      </p:sp>
      <p:sp>
        <p:nvSpPr>
          <p:cNvPr id="369" name="Google Shape;36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50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Methodology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371" name="Google Shape;371;p50"/>
          <p:cNvSpPr txBox="1"/>
          <p:nvPr>
            <p:ph idx="1" type="body"/>
          </p:nvPr>
        </p:nvSpPr>
        <p:spPr>
          <a:xfrm>
            <a:off x="311700" y="1152475"/>
            <a:ext cx="8520600" cy="4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 efficient proxy for full BEIR: 13 subsets, 649 queries, 57,390 corpus</a:t>
            </a:r>
            <a:r>
              <a:rPr lang="en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372" name="Google Shape;37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850" y="1614775"/>
            <a:ext cx="6766301" cy="33997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0"/>
          <p:cNvSpPr/>
          <p:nvPr/>
        </p:nvSpPr>
        <p:spPr>
          <a:xfrm>
            <a:off x="1643325" y="4626425"/>
            <a:ext cx="3108600" cy="3978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 Cache &amp; Transform Pipeline</a:t>
            </a:r>
            <a:endParaRPr/>
          </a:p>
        </p:txBody>
      </p:sp>
      <p:sp>
        <p:nvSpPr>
          <p:cNvPr id="379" name="Google Shape;37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51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Methodology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381" name="Google Shape;38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150" y="1347463"/>
            <a:ext cx="7953701" cy="2986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Significance Testing</a:t>
            </a:r>
            <a:endParaRPr/>
          </a:p>
        </p:txBody>
      </p:sp>
      <p:sp>
        <p:nvSpPr>
          <p:cNvPr id="387" name="Google Shape;38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8" name="Google Shape;388;p52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Methodology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389" name="Google Shape;389;p52"/>
          <p:cNvSpPr txBox="1"/>
          <p:nvPr>
            <p:ph idx="1" type="body"/>
          </p:nvPr>
        </p:nvSpPr>
        <p:spPr>
          <a:xfrm>
            <a:off x="311700" y="1152475"/>
            <a:ext cx="8520600" cy="4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Is a difference between two methods real, or just noise?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90" name="Google Shape;39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163" y="2149613"/>
            <a:ext cx="8097674" cy="219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Wilcoxon? The Difference Distribution</a:t>
            </a:r>
            <a:endParaRPr/>
          </a:p>
        </p:txBody>
      </p:sp>
      <p:sp>
        <p:nvSpPr>
          <p:cNvPr id="396" name="Google Shape;39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7" name="Google Shape;397;p53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Methodology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398" name="Google Shape;398;p53"/>
          <p:cNvSpPr txBox="1"/>
          <p:nvPr>
            <p:ph idx="1" type="body"/>
          </p:nvPr>
        </p:nvSpPr>
        <p:spPr>
          <a:xfrm>
            <a:off x="311700" y="1152475"/>
            <a:ext cx="8520600" cy="4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Most difference distribution is not normal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99" name="Google Shape;39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725" y="1749525"/>
            <a:ext cx="6368551" cy="304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Hypotheses &amp; Decision Rule</a:t>
            </a:r>
            <a:endParaRPr/>
          </a:p>
        </p:txBody>
      </p:sp>
      <p:sp>
        <p:nvSpPr>
          <p:cNvPr id="405" name="Google Shape;40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54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Methodology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407" name="Google Shape;407;p54"/>
          <p:cNvSpPr txBox="1"/>
          <p:nvPr>
            <p:ph idx="1" type="body"/>
          </p:nvPr>
        </p:nvSpPr>
        <p:spPr>
          <a:xfrm>
            <a:off x="311700" y="1152475"/>
            <a:ext cx="8520600" cy="4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Decision: reject H₀ if  p &lt; α = 0.05  → the difference is statistically significant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08" name="Google Shape;40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325" y="1942150"/>
            <a:ext cx="7369351" cy="225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5"/>
          <p:cNvSpPr txBox="1"/>
          <p:nvPr>
            <p:ph type="title"/>
          </p:nvPr>
        </p:nvSpPr>
        <p:spPr>
          <a:xfrm>
            <a:off x="0" y="22854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&amp; Findings</a:t>
            </a:r>
            <a:endParaRPr/>
          </a:p>
        </p:txBody>
      </p:sp>
      <p:sp>
        <p:nvSpPr>
          <p:cNvPr id="414" name="Google Shape;414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Float32 Baseline</a:t>
            </a:r>
            <a:endParaRPr/>
          </a:p>
        </p:txBody>
      </p:sp>
      <p:sp>
        <p:nvSpPr>
          <p:cNvPr id="420" name="Google Shape;42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p56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Results and Findings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422" name="Google Shape;42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488" y="1521025"/>
            <a:ext cx="5239024" cy="3412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6"/>
          <p:cNvSpPr txBox="1"/>
          <p:nvPr/>
        </p:nvSpPr>
        <p:spPr>
          <a:xfrm>
            <a:off x="2489400" y="1202150"/>
            <a:ext cx="15693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 = 0.49 &gt; 0.05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Not Significant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Post-hoc INT8 and Binary</a:t>
            </a:r>
            <a:endParaRPr/>
          </a:p>
        </p:txBody>
      </p:sp>
      <p:sp>
        <p:nvSpPr>
          <p:cNvPr id="429" name="Google Shape;429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57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Results and Findings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431" name="Google Shape;431;p57"/>
          <p:cNvSpPr txBox="1"/>
          <p:nvPr>
            <p:ph idx="1" type="body"/>
          </p:nvPr>
        </p:nvSpPr>
        <p:spPr>
          <a:xfrm>
            <a:off x="311700" y="1152475"/>
            <a:ext cx="8520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INT8 is near lossless (p=0.076, 0.783, 0.103)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Binary drops 3–5 % (p &lt; 0.001 for all models)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32" name="Google Shape;43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263" y="1832275"/>
            <a:ext cx="4883475" cy="3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Quantization (post-hoc)</a:t>
            </a:r>
            <a:endParaRPr/>
          </a:p>
        </p:txBody>
      </p:sp>
      <p:sp>
        <p:nvSpPr>
          <p:cNvPr id="438" name="Google Shape;438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58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Results and Findings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440" name="Google Shape;440;p58"/>
          <p:cNvSpPr txBox="1"/>
          <p:nvPr>
            <p:ph idx="1" type="body"/>
          </p:nvPr>
        </p:nvSpPr>
        <p:spPr>
          <a:xfrm>
            <a:off x="311700" y="1152475"/>
            <a:ext cx="8520600" cy="9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PQ at 32× near-lossless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n=</a:t>
            </a:r>
            <a:r>
              <a:rPr lang="en">
                <a:solidFill>
                  <a:schemeClr val="dk1"/>
                </a:solidFill>
              </a:rPr>
              <a:t>8 bits beats </a:t>
            </a:r>
            <a:r>
              <a:rPr lang="en">
                <a:solidFill>
                  <a:schemeClr val="dk1"/>
                </a:solidFill>
              </a:rPr>
              <a:t>n=</a:t>
            </a:r>
            <a:r>
              <a:rPr lang="en">
                <a:solidFill>
                  <a:schemeClr val="dk1"/>
                </a:solidFill>
              </a:rPr>
              <a:t>4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collapses past ~96×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41" name="Google Shape;44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25" y="2025150"/>
            <a:ext cx="8328751" cy="28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TurboQuant (post-hoc)</a:t>
            </a:r>
            <a:endParaRPr/>
          </a:p>
        </p:txBody>
      </p:sp>
      <p:sp>
        <p:nvSpPr>
          <p:cNvPr id="447" name="Google Shape;447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59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Results and Findings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449" name="Google Shape;449;p59"/>
          <p:cNvSpPr txBox="1"/>
          <p:nvPr>
            <p:ph idx="1" type="body"/>
          </p:nvPr>
        </p:nvSpPr>
        <p:spPr>
          <a:xfrm>
            <a:off x="311700" y="1152475"/>
            <a:ext cx="8520600" cy="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TQ-</a:t>
            </a:r>
            <a:r>
              <a:rPr lang="en">
                <a:solidFill>
                  <a:schemeClr val="dk1"/>
                </a:solidFill>
              </a:rPr>
              <a:t>1 bit</a:t>
            </a:r>
            <a:r>
              <a:rPr lang="en">
                <a:solidFill>
                  <a:schemeClr val="dk1"/>
                </a:solidFill>
              </a:rPr>
              <a:t> (32×) loses only ~2–3.5 %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Near Lossless</a:t>
            </a:r>
            <a:r>
              <a:rPr lang="en">
                <a:solidFill>
                  <a:schemeClr val="dk1"/>
                </a:solidFill>
              </a:rPr>
              <a:t> upto </a:t>
            </a:r>
            <a:r>
              <a:rPr lang="en">
                <a:solidFill>
                  <a:schemeClr val="dk1"/>
                </a:solidFill>
              </a:rPr>
              <a:t>TQ-4 bit (8x)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50" name="Google Shape;45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3050" y="2004775"/>
            <a:ext cx="5217899" cy="313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Post-hoc Cross method Compression at 32x</a:t>
            </a:r>
            <a:endParaRPr/>
          </a:p>
        </p:txBody>
      </p:sp>
      <p:sp>
        <p:nvSpPr>
          <p:cNvPr id="456" name="Google Shape;456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7" name="Google Shape;457;p60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Results and Findings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458" name="Google Shape;458;p60"/>
          <p:cNvSpPr txBox="1"/>
          <p:nvPr>
            <p:ph idx="1" type="body"/>
          </p:nvPr>
        </p:nvSpPr>
        <p:spPr>
          <a:xfrm>
            <a:off x="311700" y="1152475"/>
            <a:ext cx="8520600" cy="4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Ordering PQ &gt; TQ-</a:t>
            </a:r>
            <a:r>
              <a:rPr lang="en">
                <a:solidFill>
                  <a:schemeClr val="dk1"/>
                </a:solidFill>
              </a:rPr>
              <a:t>1 bit</a:t>
            </a:r>
            <a:r>
              <a:rPr lang="en">
                <a:solidFill>
                  <a:schemeClr val="dk1"/>
                </a:solidFill>
              </a:rPr>
              <a:t> &gt; Binary, stable across backbones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59" name="Google Shape;45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2663" y="1605775"/>
            <a:ext cx="5698675" cy="35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 vs Annealed Tanh (32x)</a:t>
            </a:r>
            <a:endParaRPr/>
          </a:p>
        </p:txBody>
      </p:sp>
      <p:sp>
        <p:nvSpPr>
          <p:cNvPr id="465" name="Google Shape;465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6" name="Google Shape;466;p61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Results and Findings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467" name="Google Shape;467;p61"/>
          <p:cNvSpPr txBox="1"/>
          <p:nvPr>
            <p:ph idx="1" type="body"/>
          </p:nvPr>
        </p:nvSpPr>
        <p:spPr>
          <a:xfrm>
            <a:off x="311700" y="1152475"/>
            <a:ext cx="8520600" cy="5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Backbone</a:t>
            </a:r>
            <a:r>
              <a:rPr lang="en">
                <a:solidFill>
                  <a:schemeClr val="dk1"/>
                </a:solidFill>
              </a:rPr>
              <a:t> dependent performance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68" name="Google Shape;46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563" y="1605775"/>
            <a:ext cx="5642874" cy="353282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61"/>
          <p:cNvSpPr/>
          <p:nvPr/>
        </p:nvSpPr>
        <p:spPr>
          <a:xfrm>
            <a:off x="4191000" y="2966350"/>
            <a:ext cx="1215600" cy="17691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nvestigation</a:t>
            </a:r>
            <a:r>
              <a:rPr lang="en"/>
              <a:t> of</a:t>
            </a:r>
            <a:r>
              <a:rPr lang="en"/>
              <a:t> BAT vs float32 on RoBERTa</a:t>
            </a:r>
            <a:endParaRPr/>
          </a:p>
        </p:txBody>
      </p:sp>
      <p:sp>
        <p:nvSpPr>
          <p:cNvPr id="475" name="Google Shape;475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62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Results and Findings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477" name="Google Shape;477;p62"/>
          <p:cNvSpPr txBox="1"/>
          <p:nvPr>
            <p:ph idx="1" type="body"/>
          </p:nvPr>
        </p:nvSpPr>
        <p:spPr>
          <a:xfrm>
            <a:off x="311700" y="1152475"/>
            <a:ext cx="8520600" cy="12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Recall@10 tells a different story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Recall ignores rank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considers multiple correct results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BAT method </a:t>
            </a:r>
            <a:r>
              <a:rPr lang="en">
                <a:solidFill>
                  <a:schemeClr val="dk1"/>
                </a:solidFill>
              </a:rPr>
              <a:t>retrieves</a:t>
            </a:r>
            <a:r>
              <a:rPr lang="en">
                <a:solidFill>
                  <a:schemeClr val="dk1"/>
                </a:solidFill>
              </a:rPr>
              <a:t> same set of documents but order them better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78" name="Google Shape;47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775" y="2571750"/>
            <a:ext cx="5674450" cy="23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BAT orders results better ? Geometry</a:t>
            </a:r>
            <a:endParaRPr/>
          </a:p>
        </p:txBody>
      </p:sp>
      <p:sp>
        <p:nvSpPr>
          <p:cNvPr id="484" name="Google Shape;48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63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Results and Findings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486" name="Google Shape;486;p63"/>
          <p:cNvSpPr txBox="1"/>
          <p:nvPr>
            <p:ph idx="1" type="body"/>
          </p:nvPr>
        </p:nvSpPr>
        <p:spPr>
          <a:xfrm>
            <a:off x="311700" y="1152475"/>
            <a:ext cx="8520600" cy="3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RoBERTa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Information </a:t>
            </a:r>
            <a:r>
              <a:rPr lang="en">
                <a:solidFill>
                  <a:schemeClr val="dk1"/>
                </a:solidFill>
              </a:rPr>
              <a:t>stored in narrow dimension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Hard to rank similar documents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RoBERTa-BAT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Information spread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87" name="Google Shape;48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138" y="1817325"/>
            <a:ext cx="4850170" cy="315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</a:t>
            </a:r>
            <a:r>
              <a:rPr lang="en"/>
              <a:t>: Training Trajectory</a:t>
            </a:r>
            <a:endParaRPr/>
          </a:p>
        </p:txBody>
      </p:sp>
      <p:sp>
        <p:nvSpPr>
          <p:cNvPr id="493" name="Google Shape;493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64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Results and Findings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495" name="Google Shape;49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813" y="1170125"/>
            <a:ext cx="617637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 vs Annealed Tanh (Stacked with MRL)</a:t>
            </a:r>
            <a:endParaRPr/>
          </a:p>
        </p:txBody>
      </p:sp>
      <p:sp>
        <p:nvSpPr>
          <p:cNvPr id="501" name="Google Shape;50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2" name="Google Shape;502;p65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Results and Findings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503" name="Google Shape;503;p65"/>
          <p:cNvSpPr txBox="1"/>
          <p:nvPr>
            <p:ph idx="1" type="body"/>
          </p:nvPr>
        </p:nvSpPr>
        <p:spPr>
          <a:xfrm>
            <a:off x="311700" y="1152475"/>
            <a:ext cx="8520600" cy="11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(MRL + Atanh) beats (MRL + STE) in all backbone and compression ratios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Reason: In forward bass Sign </a:t>
            </a:r>
            <a:r>
              <a:rPr lang="en">
                <a:solidFill>
                  <a:schemeClr val="dk1"/>
                </a:solidFill>
              </a:rPr>
              <a:t>binaries</a:t>
            </a:r>
            <a:r>
              <a:rPr lang="en">
                <a:solidFill>
                  <a:schemeClr val="dk1"/>
                </a:solidFill>
              </a:rPr>
              <a:t> before the loss, killing more magnitude info than tanh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04" name="Google Shape;50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225" y="2146450"/>
            <a:ext cx="8253550" cy="2910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MRL alone</a:t>
            </a:r>
            <a:endParaRPr/>
          </a:p>
        </p:txBody>
      </p:sp>
      <p:sp>
        <p:nvSpPr>
          <p:cNvPr id="510" name="Google Shape;510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66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Results and Findings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512" name="Google Shape;512;p66"/>
          <p:cNvSpPr txBox="1"/>
          <p:nvPr>
            <p:ph idx="1" type="body"/>
          </p:nvPr>
        </p:nvSpPr>
        <p:spPr>
          <a:xfrm>
            <a:off x="311700" y="1152475"/>
            <a:ext cx="85206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Performance collapses after 128 d truncation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13" name="Google Shape;51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125" y="1758525"/>
            <a:ext cx="5277749" cy="321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Stacking MRL (Overall)</a:t>
            </a:r>
            <a:endParaRPr/>
          </a:p>
        </p:txBody>
      </p:sp>
      <p:sp>
        <p:nvSpPr>
          <p:cNvPr id="519" name="Google Shape;519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0" name="Google Shape;520;p67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Results and Findings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521" name="Google Shape;521;p67"/>
          <p:cNvSpPr txBox="1"/>
          <p:nvPr>
            <p:ph idx="1" type="body"/>
          </p:nvPr>
        </p:nvSpPr>
        <p:spPr>
          <a:xfrm>
            <a:off x="311700" y="1152475"/>
            <a:ext cx="85206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MRL stacking: more compression, same retrieval quality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MRL + PQ dominates at high compression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22" name="Google Shape;52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850" y="2035175"/>
            <a:ext cx="8200301" cy="29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Pareto Frontiers</a:t>
            </a:r>
            <a:endParaRPr/>
          </a:p>
        </p:txBody>
      </p:sp>
      <p:sp>
        <p:nvSpPr>
          <p:cNvPr id="528" name="Google Shape;528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68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Results and Findings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530" name="Google Shape;530;p68"/>
          <p:cNvSpPr txBox="1"/>
          <p:nvPr>
            <p:ph idx="1" type="body"/>
          </p:nvPr>
        </p:nvSpPr>
        <p:spPr>
          <a:xfrm>
            <a:off x="311700" y="1152475"/>
            <a:ext cx="85206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method wins everywhere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31" name="Google Shape;53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00" y="1781925"/>
            <a:ext cx="8208199" cy="2953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Compression Cheat Sheet</a:t>
            </a:r>
            <a:endParaRPr/>
          </a:p>
        </p:txBody>
      </p:sp>
      <p:sp>
        <p:nvSpPr>
          <p:cNvPr id="537" name="Google Shape;537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69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Results and Findings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539" name="Google Shape;53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038" y="1561125"/>
            <a:ext cx="6243924" cy="266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0"/>
          <p:cNvSpPr txBox="1"/>
          <p:nvPr>
            <p:ph type="title"/>
          </p:nvPr>
        </p:nvSpPr>
        <p:spPr>
          <a:xfrm>
            <a:off x="0" y="22854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Work</a:t>
            </a:r>
            <a:endParaRPr/>
          </a:p>
        </p:txBody>
      </p:sp>
      <p:sp>
        <p:nvSpPr>
          <p:cNvPr id="545" name="Google Shape;545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Recalling Research Question</a:t>
            </a:r>
            <a:endParaRPr/>
          </a:p>
        </p:txBody>
      </p:sp>
      <p:sp>
        <p:nvSpPr>
          <p:cNvPr id="551" name="Google Shape;551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71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Conclusion and Future Work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553" name="Google Shape;553;p71"/>
          <p:cNvSpPr txBox="1"/>
          <p:nvPr>
            <p:ph idx="1" type="body"/>
          </p:nvPr>
        </p:nvSpPr>
        <p:spPr>
          <a:xfrm>
            <a:off x="311700" y="1152475"/>
            <a:ext cx="8520600" cy="3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RQ1: Post-hoc vs training-time?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Depends on backbone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PQ wins for BGE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Training-Time BAT wins on RoBERTa / MPNet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RQ2: STE vs annealed tanh?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 standalone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Depends on backbone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Atanh wins on </a:t>
            </a:r>
            <a:r>
              <a:rPr lang="en">
                <a:solidFill>
                  <a:schemeClr val="dk1"/>
                </a:solidFill>
              </a:rPr>
              <a:t>RoBERTa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STE wins for BGE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When stacked with MRL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MRL + atanh beats MRL + STE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Recalling Research Question</a:t>
            </a:r>
            <a:endParaRPr/>
          </a:p>
        </p:txBody>
      </p:sp>
      <p:sp>
        <p:nvSpPr>
          <p:cNvPr id="559" name="Google Shape;559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0" name="Google Shape;560;p72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Conclusion and Future Work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561" name="Google Shape;561;p72"/>
          <p:cNvSpPr txBox="1"/>
          <p:nvPr>
            <p:ph idx="1" type="body"/>
          </p:nvPr>
        </p:nvSpPr>
        <p:spPr>
          <a:xfrm>
            <a:off x="311700" y="1152475"/>
            <a:ext cx="8520600" cy="23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RQ3: </a:t>
            </a:r>
            <a:r>
              <a:rPr lang="en">
                <a:solidFill>
                  <a:schemeClr val="dk1"/>
                </a:solidFill>
              </a:rPr>
              <a:t>Does stacking help?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Yes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E.g. MRL + PQ dominates ≥96×, beyond either method alone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RQ4: </a:t>
            </a:r>
            <a:r>
              <a:rPr lang="en">
                <a:solidFill>
                  <a:schemeClr val="dk1"/>
                </a:solidFill>
              </a:rPr>
              <a:t>Do findings generalize across backbones?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 many cases it </a:t>
            </a:r>
            <a:r>
              <a:rPr lang="en">
                <a:solidFill>
                  <a:schemeClr val="dk1"/>
                </a:solidFill>
              </a:rPr>
              <a:t>doesn't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</a:t>
            </a:r>
            <a:endParaRPr/>
          </a:p>
        </p:txBody>
      </p:sp>
      <p:sp>
        <p:nvSpPr>
          <p:cNvPr id="567" name="Google Shape;567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73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Conclusion and Future Work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569" name="Google Shape;569;p73"/>
          <p:cNvSpPr txBox="1"/>
          <p:nvPr>
            <p:ph idx="1" type="body"/>
          </p:nvPr>
        </p:nvSpPr>
        <p:spPr>
          <a:xfrm>
            <a:off x="311700" y="1152475"/>
            <a:ext cx="8520600" cy="9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universal winner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Choose by: retrieval pre-training and memory budget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Works</a:t>
            </a:r>
            <a:endParaRPr/>
          </a:p>
        </p:txBody>
      </p:sp>
      <p:sp>
        <p:nvSpPr>
          <p:cNvPr id="575" name="Google Shape;575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74"/>
          <p:cNvSpPr txBox="1"/>
          <p:nvPr/>
        </p:nvSpPr>
        <p:spPr>
          <a:xfrm>
            <a:off x="311700" y="0"/>
            <a:ext cx="8520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Conclusion and Future Work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577" name="Google Shape;577;p74"/>
          <p:cNvSpPr txBox="1"/>
          <p:nvPr>
            <p:ph idx="1" type="body"/>
          </p:nvPr>
        </p:nvSpPr>
        <p:spPr>
          <a:xfrm>
            <a:off x="311700" y="1152475"/>
            <a:ext cx="8520600" cy="24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Scale Evaluation &amp; Training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Full BEIR Evaluation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Larger Training data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Longer training runs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MRL + recurrent residual binary (with atanh)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Flexible </a:t>
            </a:r>
            <a:r>
              <a:rPr lang="en">
                <a:solidFill>
                  <a:schemeClr val="dk1"/>
                </a:solidFill>
              </a:rPr>
              <a:t>inference</a:t>
            </a:r>
            <a:r>
              <a:rPr lang="en">
                <a:solidFill>
                  <a:schemeClr val="dk1"/>
                </a:solidFill>
              </a:rPr>
              <a:t> time truncation and bit depth (BEBR)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5"/>
          <p:cNvSpPr txBox="1"/>
          <p:nvPr>
            <p:ph type="title"/>
          </p:nvPr>
        </p:nvSpPr>
        <p:spPr>
          <a:xfrm>
            <a:off x="311700" y="28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for Evaluation Dashboard</a:t>
            </a:r>
            <a:endParaRPr/>
          </a:p>
        </p:txBody>
      </p:sp>
      <p:sp>
        <p:nvSpPr>
          <p:cNvPr id="583" name="Google Shape;583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4" name="Google Shape;584;p75"/>
          <p:cNvSpPr txBox="1"/>
          <p:nvPr/>
        </p:nvSpPr>
        <p:spPr>
          <a:xfrm>
            <a:off x="0" y="4873500"/>
            <a:ext cx="9144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https://huggingface.co/spaces/SajilAwale/Embedding-Compression-Eval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585" name="Google Shape;585;p75" title="Evlaution Dashboard Demo Thesi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562" y="862375"/>
            <a:ext cx="7130880" cy="401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6"/>
          <p:cNvSpPr txBox="1"/>
          <p:nvPr>
            <p:ph type="title"/>
          </p:nvPr>
        </p:nvSpPr>
        <p:spPr>
          <a:xfrm>
            <a:off x="0" y="22854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</a:t>
            </a:r>
            <a:endParaRPr/>
          </a:p>
        </p:txBody>
      </p:sp>
      <p:sp>
        <p:nvSpPr>
          <p:cNvPr id="591" name="Google Shape;591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